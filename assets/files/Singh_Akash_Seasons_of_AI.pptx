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Bricolage Grotesque" panose="020B0605040402000204" pitchFamily="34"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I’m presenting the history of artificial intelligence as a series of seasons. The color band at the bottom is the whole story in one line: warm summers of hype and funding, cold winters when that funding collapsed, and the red-hot deep learning era we’re living in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strip is drawn to scale, from 1943 to today. Notice two things. First, the two blue bands are the AI winters, in the mid-1970s and the late 1980s. Second, the red on the right is tiny in years but enormous in impact: almost everything people think of as “AI” today happened in the last fourteen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AI’s first summer was driven by symbolic AI: logic and hand-written rules. Turing set the question in 1950, the Dartmouth workshop named the field in 1956, and the Perceptron and ELIZA made headlines. Researchers predicted human-level AI within a generation. Then in 1969, Minsky and Papert proved the limits of simple neural networks, which set up the first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winter came from a gap between promises and results. Computers had tiny memories, and methods that worked on toy problems collapsed on real ones. In 1973 Sir James Lighthill told the UK government that AI had failed its “grandiose objectives.” Britain cut university funding and DARPA in the US narrowed its support to short-term military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AI’s second summer was commercial. Expert systems captured specialists’ knowledge as if-then rules, and XCON at Digital Equipment Corporation proved they could save real money. Japan’s Fifth Generation project scared the US and UK into new funding. Quietly, in 1986, backpropagation answered Minsky and Papert’s critique and made deep neural networks trainable.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winter was a business collapse. In 1987 ordinary desktop computers became powerful enough to replace expensive specialized Lisp machines, and that market vanished almost overnight. Expert systems turned out to be brittle: every new situation needed new rules written by hand. But research didn’t stop. Yann LeCun’s convolutional network at Bell Labs read handwritten ZIP codes in 1989, the ancestor of today’s computer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second winter, AI stopped making big promises and kept improving. Three ingredients matured separately: better algorithms like LSTM, huge datasets like ImageNet, and cheap parallel compute from cloud services and NVIDIA’s CUDA. Deep Blue still used brute-force search, which was the high point of the old symbolic approach. The new approach was about to take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the whole story turns. Neural networks were invented in 1958 and backpropagation in 1986, but they needed data and compute that didn’t exist yet. In 2012 AlexNet combined ImageNet’s data with NVIDIA GPUs and cut the error rate almost in half compared with the next-best entry. Within a year, every major tech company was racing to hire deep learning researchers.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AlexNet, breakthroughs came every year. GANs taught AI to create images. OpenAI was founded in 2015. AlphaGo beat a world champion at Go, a game too complex for brute force. Most important for today, Google’s 2017 Transformer paper introduced the architecture behind every major language model. GPT-3 in 2020 showed that simply scaling these models up unlocked new 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November 30, 2022, ChatGPT turned generative AI into a consumer product overnight. In 2023 every major lab released competing models. In 2024 the Nobel committees awarded prizes in physics and chemistry for AI work, including AlphaFold. In 2025 China’s DeepSeek showed a strong reasoning model could be built far more cheaply, while demand for NVIDIA chips kept exploding.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distinctions from the IEEE reading explain most of this history. First, the field moved from symbolic AI, where people wrote the rules, to connectionist AI, where neural networks learn the rules from data. Second, everything we’ve seen so far is narrow AI, very good at specific tasks. Artificial General Intelligence would match humans across any intellectual task, and it hasn’t been achieved.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AI race runs on three fronts. Model labs like OpenAI, Google DeepMind, Anthropic, Meta and DeepSeek build the systems. Chipmakers, led by NVIDIA, supply the hardware. Cloud providers rent out the massive compute that training needs. That compute curve is the key trend: according to Our World in Data, it has doubled about every six months since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First, hype has a cost: both winters came after AI overpromised, and that’s a useful warning today. Second, many of AI’s best ideas waited decades for hardware to catch up. Third, a small number of persistent people, like Hinton, who kept working on neural networks when it was unfashionable, made the breakthroughs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my sources: the three course resources, plus the original Transformer paper and the Nobel Prize announcement. As the assignment asks, I’ve disclosed that I used Claude to help with research and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2F5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0" y="1102340"/>
            <a:ext cx="10566440" cy="502920"/>
          </a:xfrm>
          <a:prstGeom prst="rect">
            <a:avLst/>
          </a:prstGeom>
          <a:noFill/>
          <a:ln/>
        </p:spPr>
        <p:txBody>
          <a:bodyPr wrap="square" lIns="0" tIns="0" rIns="0" bIns="0" rtlCol="0" anchor="t"/>
          <a:lstStyle>
            <a:lvl1pPr algn="l" indent="0" marL="0">
              <a:lnSpc>
                <a:spcPct val="115000"/>
              </a:lnSpc>
              <a:buNone/>
              <a:defRPr lang="en-US" sz="3600" dirty="0">
                <a:solidFill>
                  <a:srgbClr val="14201D"/>
                </a:solidFill>
                <a:latin typeface="Bricolage Grotesque" pitchFamily="34" charset="0"/>
                <a:ea typeface="Bricolage Grotesque" pitchFamily="34" charset="-122"/>
                <a:cs typeface="Bricolage Grotesqu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0" y="1910060"/>
            <a:ext cx="10566420" cy="4135140"/>
          </a:xfrm>
          <a:prstGeom prst="rect">
            <a:avLst/>
          </a:prstGeom>
          <a:noFill/>
          <a:ln/>
        </p:spPr>
        <p:txBody>
          <a:bodyPr wrap="square" lIns="0" tIns="0" rIns="0" bIns="0" rtlCol="0" anchor="t"/>
          <a:lstStyle>
            <a:lvl1pPr algn="l" indent="0" marL="0">
              <a:lnSpc>
                <a:spcPct val="140000"/>
              </a:lnSpc>
              <a:buNone/>
              <a:defRPr lang="en-US" sz="1600" dirty="0">
                <a:solidFill>
                  <a:srgbClr val="14201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5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0" y="1102340"/>
            <a:ext cx="10566440" cy="502920"/>
          </a:xfrm>
          <a:prstGeom prst="rect">
            <a:avLst/>
          </a:prstGeom>
          <a:noFill/>
          <a:ln/>
        </p:spPr>
        <p:txBody>
          <a:bodyPr wrap="square" lIns="0" tIns="0" rIns="0" bIns="0" rtlCol="0" anchor="t"/>
          <a:lstStyle>
            <a:lvl1pPr algn="l" indent="0" marL="0">
              <a:lnSpc>
                <a:spcPct val="115000"/>
              </a:lnSpc>
              <a:buNone/>
              <a:defRPr lang="en-US" sz="3600" dirty="0">
                <a:solidFill>
                  <a:srgbClr val="14201D"/>
                </a:solidFill>
                <a:latin typeface="Bricolage Grotesque" pitchFamily="34" charset="0"/>
                <a:ea typeface="Bricolage Grotesque" pitchFamily="34" charset="-122"/>
                <a:cs typeface="Bricolage Grotesqu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0" y="1910060"/>
            <a:ext cx="10566420" cy="4135140"/>
          </a:xfrm>
          <a:prstGeom prst="rect">
            <a:avLst/>
          </a:prstGeom>
          <a:noFill/>
          <a:ln/>
        </p:spPr>
        <p:txBody>
          <a:bodyPr wrap="square" lIns="0" tIns="0" rIns="0" bIns="0" rtlCol="0" anchor="t"/>
          <a:lstStyle>
            <a:lvl1pPr algn="l" indent="0" marL="0">
              <a:lnSpc>
                <a:spcPct val="140000"/>
              </a:lnSpc>
              <a:buNone/>
              <a:defRPr lang="en-US" sz="1600" dirty="0">
                <a:solidFill>
                  <a:srgbClr val="14201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1D"/>
        </a:solidFill>
      </p:bgPr>
    </p:bg>
    <p:spTree>
      <p:nvGrpSpPr>
        <p:cNvPr id="1" name=""/>
        <p:cNvGrpSpPr/>
        <p:nvPr/>
      </p:nvGrpSpPr>
      <p:grpSpPr>
        <a:xfrm>
          <a:off x="0" y="0"/>
          <a:ext cx="0" cy="0"/>
          <a:chOff x="0" y="0"/>
          <a:chExt cx="0" cy="0"/>
        </a:xfrm>
      </p:grpSpPr>
      <p:sp>
        <p:nvSpPr>
          <p:cNvPr id="2" name="Text 0"/>
          <p:cNvSpPr/>
          <p:nvPr/>
        </p:nvSpPr>
        <p:spPr>
          <a:xfrm>
            <a:off x="812780" y="812780"/>
            <a:ext cx="10883434"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99B48"/>
                </a:solidFill>
                <a:latin typeface="IBM Plex Sans" pitchFamily="34" charset="0"/>
                <a:ea typeface="IBM Plex Sans" pitchFamily="34" charset="-122"/>
                <a:cs typeface="IBM Plex Sans" pitchFamily="34" charset="-120"/>
              </a:rPr>
              <a:t>AI HISTORY TIMELINE · 1943 TO TODAY</a:t>
            </a:r>
            <a:endParaRPr lang="en-US" sz="1200" dirty="0"/>
          </a:p>
        </p:txBody>
      </p:sp>
      <p:sp>
        <p:nvSpPr>
          <p:cNvPr id="3" name="Text 1"/>
          <p:cNvSpPr/>
          <p:nvPr>
            <p:ph type="title"/>
          </p:nvPr>
        </p:nvSpPr>
        <p:spPr>
          <a:xfrm>
            <a:off x="812780" y="1229320"/>
            <a:ext cx="10883434" cy="1041420"/>
          </a:xfrm>
          <a:prstGeom prst="rect">
            <a:avLst/>
          </a:prstGeom>
          <a:noFill/>
          <a:ln/>
        </p:spPr>
        <p:txBody>
          <a:bodyPr wrap="square" lIns="0" tIns="0" rIns="0" bIns="0" rtlCol="0" anchor="t">
            <a:normAutofit/>
          </a:bodyPr>
          <a:lstStyle/>
          <a:p>
            <a:pPr algn="l" indent="0" marL="0">
              <a:lnSpc>
                <a:spcPts val="8000"/>
              </a:lnSpc>
              <a:buNone/>
            </a:pPr>
            <a:r>
              <a:rPr lang="en-US" sz="8000" b="1" i="0" spc="-150" kern="0" dirty="0">
                <a:solidFill>
                  <a:srgbClr val="F2F5F4"/>
                </a:solidFill>
                <a:latin typeface="Bricolage Grotesque" pitchFamily="34" charset="0"/>
                <a:ea typeface="Bricolage Grotesque" pitchFamily="34" charset="-122"/>
                <a:cs typeface="Bricolage Grotesque" pitchFamily="34" charset="-120"/>
              </a:rPr>
              <a:t>Seasons of </a:t>
            </a:r>
            <a:r>
              <a:rPr lang="en-US" sz="8000" b="1" i="0" spc="-150" kern="0" dirty="0">
                <a:solidFill>
                  <a:srgbClr val="7DB2DC"/>
                </a:solidFill>
                <a:latin typeface="Bricolage Grotesque" pitchFamily="34" charset="0"/>
                <a:ea typeface="Bricolage Grotesque" pitchFamily="34" charset="-122"/>
                <a:cs typeface="Bricolage Grotesque" pitchFamily="34" charset="-120"/>
              </a:rPr>
              <a:t>AI</a:t>
            </a:r>
            <a:endParaRPr lang="en-US" sz="8000" dirty="0"/>
          </a:p>
        </p:txBody>
      </p:sp>
      <p:sp>
        <p:nvSpPr>
          <p:cNvPr id="4" name="Text 2"/>
          <p:cNvSpPr/>
          <p:nvPr/>
        </p:nvSpPr>
        <p:spPr>
          <a:xfrm>
            <a:off x="812780" y="2448521"/>
            <a:ext cx="10883434"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A9BAB6"/>
                </a:solidFill>
                <a:latin typeface="IBM Plex Sans" pitchFamily="34" charset="0"/>
                <a:ea typeface="IBM Plex Sans" pitchFamily="34" charset="-122"/>
                <a:cs typeface="IBM Plex Sans" pitchFamily="34" charset="-120"/>
              </a:rPr>
              <a:t>Eighty years of summers, winters and breakthroughs</a:t>
            </a:r>
            <a:endParaRPr lang="en-US" sz="2200" dirty="0"/>
          </a:p>
        </p:txBody>
      </p:sp>
      <p:sp>
        <p:nvSpPr>
          <p:cNvPr id="5" name="Text 3"/>
          <p:cNvSpPr/>
          <p:nvPr/>
        </p:nvSpPr>
        <p:spPr>
          <a:xfrm>
            <a:off x="812780" y="5760780"/>
            <a:ext cx="10883434" cy="309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F5F4"/>
                </a:solidFill>
                <a:latin typeface="IBM Plex Sans" pitchFamily="34" charset="0"/>
                <a:ea typeface="IBM Plex Sans" pitchFamily="34" charset="-122"/>
                <a:cs typeface="IBM Plex Sans" pitchFamily="34" charset="-120"/>
              </a:rPr>
              <a:t>Akash Singh · AIML-500: AI Lab ·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4"/>
        </a:solidFill>
      </p:bgPr>
    </p:bg>
    <p:spTree>
      <p:nvGrpSpPr>
        <p:cNvPr id="1" name=""/>
        <p:cNvGrpSpPr/>
        <p:nvPr/>
      </p:nvGrpSpPr>
      <p:grpSpPr>
        <a:xfrm>
          <a:off x="0" y="0"/>
          <a:ext cx="0" cy="0"/>
          <a:chOff x="0" y="0"/>
          <a:chExt cx="0" cy="0"/>
        </a:xfrm>
      </p:grpSpPr>
      <p:sp>
        <p:nvSpPr>
          <p:cNvPr id="2" name="Text 0"/>
          <p:cNvSpPr/>
          <p:nvPr>
            <p:ph type="title"/>
          </p:nvPr>
        </p:nvSpPr>
        <p:spPr>
          <a:xfrm>
            <a:off x="812780" y="812781"/>
            <a:ext cx="10883434"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D"/>
                </a:solidFill>
                <a:latin typeface="Bricolage Grotesque" pitchFamily="34" charset="0"/>
                <a:ea typeface="Bricolage Grotesque" pitchFamily="34" charset="-122"/>
                <a:cs typeface="Bricolage Grotesque" pitchFamily="34" charset="-120"/>
              </a:rPr>
              <a:t>AI history is a weather report</a:t>
            </a:r>
            <a:endParaRPr lang="en-US" sz="3600" dirty="0"/>
          </a:p>
        </p:txBody>
      </p:sp>
      <p:sp>
        <p:nvSpPr>
          <p:cNvPr id="3" name="Text 1"/>
          <p:cNvSpPr/>
          <p:nvPr/>
        </p:nvSpPr>
        <p:spPr>
          <a:xfrm>
            <a:off x="812780" y="1569661"/>
            <a:ext cx="10883434" cy="309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F5E5B"/>
                </a:solidFill>
                <a:latin typeface="IBM Plex Sans" pitchFamily="34" charset="0"/>
                <a:ea typeface="IBM Plex Sans" pitchFamily="34" charset="-122"/>
                <a:cs typeface="IBM Plex Sans" pitchFamily="34" charset="-120"/>
              </a:rPr>
              <a:t>Progress came in seasons. Summers brought hype and funding. Winters arrived when promises outran results.</a:t>
            </a:r>
            <a:endParaRPr lang="en-US" sz="1600" dirty="0"/>
          </a:p>
        </p:txBody>
      </p:sp>
      <p:sp>
        <p:nvSpPr>
          <p:cNvPr id="4" name="Shape 2"/>
          <p:cNvSpPr/>
          <p:nvPr/>
        </p:nvSpPr>
        <p:spPr>
          <a:xfrm>
            <a:off x="812780" y="3304521"/>
            <a:ext cx="3946505" cy="762000"/>
          </a:xfrm>
          <a:prstGeom prst="rect">
            <a:avLst/>
          </a:prstGeom>
          <a:solidFill>
            <a:srgbClr val="D9A066"/>
          </a:solidFill>
          <a:ln/>
        </p:spPr>
        <p:txBody>
          <a:bodyPr/>
          <a:p/>
        </p:txBody>
      </p:sp>
      <p:sp>
        <p:nvSpPr>
          <p:cNvPr id="5" name="Shape 3"/>
          <p:cNvSpPr/>
          <p:nvPr/>
        </p:nvSpPr>
        <p:spPr>
          <a:xfrm>
            <a:off x="4759285" y="3304521"/>
            <a:ext cx="763845" cy="762000"/>
          </a:xfrm>
          <a:prstGeom prst="rect">
            <a:avLst/>
          </a:prstGeom>
          <a:solidFill>
            <a:srgbClr val="2F6E9F"/>
          </a:solidFill>
          <a:ln/>
        </p:spPr>
        <p:txBody>
          <a:bodyPr/>
          <a:p/>
        </p:txBody>
      </p:sp>
      <p:sp>
        <p:nvSpPr>
          <p:cNvPr id="6" name="Shape 4"/>
          <p:cNvSpPr/>
          <p:nvPr/>
        </p:nvSpPr>
        <p:spPr>
          <a:xfrm>
            <a:off x="5523131" y="3304521"/>
            <a:ext cx="891123" cy="762000"/>
          </a:xfrm>
          <a:prstGeom prst="rect">
            <a:avLst/>
          </a:prstGeom>
          <a:solidFill>
            <a:srgbClr val="B8640F"/>
          </a:solidFill>
          <a:ln/>
        </p:spPr>
        <p:txBody>
          <a:bodyPr/>
          <a:p/>
        </p:txBody>
      </p:sp>
      <p:sp>
        <p:nvSpPr>
          <p:cNvPr id="7" name="Shape 5"/>
          <p:cNvSpPr/>
          <p:nvPr/>
        </p:nvSpPr>
        <p:spPr>
          <a:xfrm>
            <a:off x="6414254" y="3304521"/>
            <a:ext cx="763845" cy="762000"/>
          </a:xfrm>
          <a:prstGeom prst="rect">
            <a:avLst/>
          </a:prstGeom>
          <a:solidFill>
            <a:srgbClr val="2F6E9F"/>
          </a:solidFill>
          <a:ln/>
        </p:spPr>
        <p:txBody>
          <a:bodyPr/>
          <a:p/>
        </p:txBody>
      </p:sp>
      <p:sp>
        <p:nvSpPr>
          <p:cNvPr id="8" name="Shape 6"/>
          <p:cNvSpPr/>
          <p:nvPr/>
        </p:nvSpPr>
        <p:spPr>
          <a:xfrm>
            <a:off x="7178100" y="3304521"/>
            <a:ext cx="2418814" cy="762000"/>
          </a:xfrm>
          <a:prstGeom prst="rect">
            <a:avLst/>
          </a:prstGeom>
          <a:solidFill>
            <a:srgbClr val="9AA7A3"/>
          </a:solidFill>
          <a:ln/>
        </p:spPr>
        <p:txBody>
          <a:bodyPr/>
          <a:p/>
        </p:txBody>
      </p:sp>
      <p:sp>
        <p:nvSpPr>
          <p:cNvPr id="9" name="Shape 7"/>
          <p:cNvSpPr/>
          <p:nvPr/>
        </p:nvSpPr>
        <p:spPr>
          <a:xfrm>
            <a:off x="9596914" y="3304521"/>
            <a:ext cx="1273076" cy="762000"/>
          </a:xfrm>
          <a:prstGeom prst="rect">
            <a:avLst/>
          </a:prstGeom>
          <a:solidFill>
            <a:srgbClr val="D9705A"/>
          </a:solidFill>
          <a:ln/>
        </p:spPr>
        <p:txBody>
          <a:bodyPr/>
          <a:p/>
        </p:txBody>
      </p:sp>
      <p:sp>
        <p:nvSpPr>
          <p:cNvPr id="10" name="Shape 8"/>
          <p:cNvSpPr/>
          <p:nvPr/>
        </p:nvSpPr>
        <p:spPr>
          <a:xfrm>
            <a:off x="10869990" y="3304521"/>
            <a:ext cx="509230" cy="762000"/>
          </a:xfrm>
          <a:prstGeom prst="rect">
            <a:avLst/>
          </a:prstGeom>
          <a:solidFill>
            <a:srgbClr val="BE3A20"/>
          </a:solidFill>
          <a:ln/>
        </p:spPr>
        <p:txBody>
          <a:bodyPr/>
          <a:p/>
        </p:txBody>
      </p:sp>
      <p:sp>
        <p:nvSpPr>
          <p:cNvPr id="11" name="Text 9"/>
          <p:cNvSpPr/>
          <p:nvPr/>
        </p:nvSpPr>
        <p:spPr>
          <a:xfrm>
            <a:off x="812780" y="4168081"/>
            <a:ext cx="4064900"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01D"/>
                </a:solidFill>
                <a:latin typeface="IBM Plex Sans" pitchFamily="34" charset="0"/>
                <a:ea typeface="IBM Plex Sans" pitchFamily="34" charset="-122"/>
                <a:cs typeface="IBM Plex Sans" pitchFamily="34" charset="-120"/>
              </a:rPr>
              <a:t>1943–73</a:t>
            </a:r>
            <a:endParaRPr lang="en-US" sz="1200" dirty="0"/>
          </a:p>
        </p:txBody>
      </p:sp>
      <p:sp>
        <p:nvSpPr>
          <p:cNvPr id="12" name="Text 10"/>
          <p:cNvSpPr/>
          <p:nvPr/>
        </p:nvSpPr>
        <p:spPr>
          <a:xfrm>
            <a:off x="4759285" y="4168081"/>
            <a:ext cx="814645"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F6E9F"/>
                </a:solidFill>
                <a:latin typeface="IBM Plex Sans" pitchFamily="34" charset="0"/>
                <a:ea typeface="IBM Plex Sans" pitchFamily="34" charset="-122"/>
                <a:cs typeface="IBM Plex Sans" pitchFamily="34" charset="-120"/>
              </a:rPr>
              <a:t>74–80</a:t>
            </a:r>
            <a:endParaRPr lang="en-US" sz="1200" dirty="0"/>
          </a:p>
        </p:txBody>
      </p:sp>
      <p:sp>
        <p:nvSpPr>
          <p:cNvPr id="13" name="Text 11"/>
          <p:cNvSpPr/>
          <p:nvPr/>
        </p:nvSpPr>
        <p:spPr>
          <a:xfrm>
            <a:off x="5523131" y="4168081"/>
            <a:ext cx="941923"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01D"/>
                </a:solidFill>
                <a:latin typeface="IBM Plex Sans" pitchFamily="34" charset="0"/>
                <a:ea typeface="IBM Plex Sans" pitchFamily="34" charset="-122"/>
                <a:cs typeface="IBM Plex Sans" pitchFamily="34" charset="-120"/>
              </a:rPr>
              <a:t>80–87</a:t>
            </a:r>
            <a:endParaRPr lang="en-US" sz="1200" dirty="0"/>
          </a:p>
        </p:txBody>
      </p:sp>
      <p:sp>
        <p:nvSpPr>
          <p:cNvPr id="14" name="Text 12"/>
          <p:cNvSpPr/>
          <p:nvPr/>
        </p:nvSpPr>
        <p:spPr>
          <a:xfrm>
            <a:off x="6414254" y="4168081"/>
            <a:ext cx="814645"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F6E9F"/>
                </a:solidFill>
                <a:latin typeface="IBM Plex Sans" pitchFamily="34" charset="0"/>
                <a:ea typeface="IBM Plex Sans" pitchFamily="34" charset="-122"/>
                <a:cs typeface="IBM Plex Sans" pitchFamily="34" charset="-120"/>
              </a:rPr>
              <a:t>87–93</a:t>
            </a:r>
            <a:endParaRPr lang="en-US" sz="1200" dirty="0"/>
          </a:p>
        </p:txBody>
      </p:sp>
      <p:sp>
        <p:nvSpPr>
          <p:cNvPr id="15" name="Text 13"/>
          <p:cNvSpPr/>
          <p:nvPr/>
        </p:nvSpPr>
        <p:spPr>
          <a:xfrm>
            <a:off x="7178100" y="4168081"/>
            <a:ext cx="2491379"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01D"/>
                </a:solidFill>
                <a:latin typeface="IBM Plex Sans" pitchFamily="34" charset="0"/>
                <a:ea typeface="IBM Plex Sans" pitchFamily="34" charset="-122"/>
                <a:cs typeface="IBM Plex Sans" pitchFamily="34" charset="-120"/>
              </a:rPr>
              <a:t>1993–2011</a:t>
            </a:r>
            <a:endParaRPr lang="en-US" sz="1200" dirty="0"/>
          </a:p>
        </p:txBody>
      </p:sp>
      <p:sp>
        <p:nvSpPr>
          <p:cNvPr id="16" name="Text 14"/>
          <p:cNvSpPr/>
          <p:nvPr/>
        </p:nvSpPr>
        <p:spPr>
          <a:xfrm>
            <a:off x="9596914" y="4168081"/>
            <a:ext cx="1323876"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01D"/>
                </a:solidFill>
                <a:latin typeface="IBM Plex Sans" pitchFamily="34" charset="0"/>
                <a:ea typeface="IBM Plex Sans" pitchFamily="34" charset="-122"/>
                <a:cs typeface="IBM Plex Sans" pitchFamily="34" charset="-120"/>
              </a:rPr>
              <a:t>2012–21</a:t>
            </a:r>
            <a:endParaRPr lang="en-US" sz="1200" dirty="0"/>
          </a:p>
        </p:txBody>
      </p:sp>
      <p:sp>
        <p:nvSpPr>
          <p:cNvPr id="17" name="Text 15"/>
          <p:cNvSpPr/>
          <p:nvPr/>
        </p:nvSpPr>
        <p:spPr>
          <a:xfrm>
            <a:off x="10869990" y="4168081"/>
            <a:ext cx="560030"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01D"/>
                </a:solidFill>
                <a:latin typeface="IBM Plex Sans" pitchFamily="34" charset="0"/>
                <a:ea typeface="IBM Plex Sans" pitchFamily="34" charset="-122"/>
                <a:cs typeface="IBM Plex Sans" pitchFamily="34" charset="-120"/>
              </a:rPr>
              <a:t>2022+</a:t>
            </a:r>
            <a:endParaRPr lang="en-US" sz="1200" dirty="0"/>
          </a:p>
        </p:txBody>
      </p:sp>
      <p:sp>
        <p:nvSpPr>
          <p:cNvPr id="18" name="Shape 16"/>
          <p:cNvSpPr/>
          <p:nvPr/>
        </p:nvSpPr>
        <p:spPr>
          <a:xfrm>
            <a:off x="812780" y="5836920"/>
            <a:ext cx="203180" cy="203180"/>
          </a:xfrm>
          <a:prstGeom prst="roundRect">
            <a:avLst>
              <a:gd name="adj" fmla="val 18752"/>
            </a:avLst>
          </a:prstGeom>
          <a:solidFill>
            <a:srgbClr val="B8640F"/>
          </a:solidFill>
          <a:ln/>
        </p:spPr>
        <p:txBody>
          <a:bodyPr/>
          <a:p/>
        </p:txBody>
      </p:sp>
      <p:sp>
        <p:nvSpPr>
          <p:cNvPr id="19" name="Text 17"/>
          <p:cNvSpPr/>
          <p:nvPr/>
        </p:nvSpPr>
        <p:spPr>
          <a:xfrm>
            <a:off x="1117521" y="5831860"/>
            <a:ext cx="21946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D"/>
                </a:solidFill>
                <a:latin typeface="IBM Plex Sans" pitchFamily="34" charset="0"/>
                <a:ea typeface="IBM Plex Sans" pitchFamily="34" charset="-122"/>
                <a:cs typeface="IBM Plex Sans" pitchFamily="34" charset="-120"/>
              </a:rPr>
              <a:t>Summer: hype and funding</a:t>
            </a:r>
            <a:endParaRPr lang="en-US" sz="1200" dirty="0"/>
          </a:p>
        </p:txBody>
      </p:sp>
      <p:sp>
        <p:nvSpPr>
          <p:cNvPr id="20" name="Shape 18"/>
          <p:cNvSpPr/>
          <p:nvPr/>
        </p:nvSpPr>
        <p:spPr>
          <a:xfrm>
            <a:off x="3312140" y="5836920"/>
            <a:ext cx="203180" cy="203180"/>
          </a:xfrm>
          <a:prstGeom prst="roundRect">
            <a:avLst>
              <a:gd name="adj" fmla="val 18752"/>
            </a:avLst>
          </a:prstGeom>
          <a:solidFill>
            <a:srgbClr val="2F6E9F"/>
          </a:solidFill>
          <a:ln/>
        </p:spPr>
        <p:txBody>
          <a:bodyPr/>
          <a:p/>
        </p:txBody>
      </p:sp>
      <p:sp>
        <p:nvSpPr>
          <p:cNvPr id="21" name="Text 19"/>
          <p:cNvSpPr/>
          <p:nvPr/>
        </p:nvSpPr>
        <p:spPr>
          <a:xfrm>
            <a:off x="3616881" y="5831860"/>
            <a:ext cx="19876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D"/>
                </a:solidFill>
                <a:latin typeface="IBM Plex Sans" pitchFamily="34" charset="0"/>
                <a:ea typeface="IBM Plex Sans" pitchFamily="34" charset="-122"/>
                <a:cs typeface="IBM Plex Sans" pitchFamily="34" charset="-120"/>
              </a:rPr>
              <a:t>Winter: funding collapse</a:t>
            </a:r>
            <a:endParaRPr lang="en-US" sz="1200" dirty="0"/>
          </a:p>
        </p:txBody>
      </p:sp>
      <p:sp>
        <p:nvSpPr>
          <p:cNvPr id="22" name="Shape 20"/>
          <p:cNvSpPr/>
          <p:nvPr/>
        </p:nvSpPr>
        <p:spPr>
          <a:xfrm>
            <a:off x="5628799" y="5836920"/>
            <a:ext cx="203180" cy="203180"/>
          </a:xfrm>
          <a:prstGeom prst="roundRect">
            <a:avLst>
              <a:gd name="adj" fmla="val 18752"/>
            </a:avLst>
          </a:prstGeom>
          <a:solidFill>
            <a:srgbClr val="9AA7A3"/>
          </a:solidFill>
          <a:ln/>
        </p:spPr>
        <p:txBody>
          <a:bodyPr/>
          <a:p/>
        </p:txBody>
      </p:sp>
      <p:sp>
        <p:nvSpPr>
          <p:cNvPr id="23" name="Text 21"/>
          <p:cNvSpPr/>
          <p:nvPr/>
        </p:nvSpPr>
        <p:spPr>
          <a:xfrm>
            <a:off x="5933539" y="5831860"/>
            <a:ext cx="120172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D"/>
                </a:solidFill>
                <a:latin typeface="IBM Plex Sans" pitchFamily="34" charset="0"/>
                <a:ea typeface="IBM Plex Sans" pitchFamily="34" charset="-122"/>
                <a:cs typeface="IBM Plex Sans" pitchFamily="34" charset="-120"/>
              </a:rPr>
              <a:t>Quiet progress</a:t>
            </a:r>
            <a:endParaRPr lang="en-US" sz="1200" dirty="0"/>
          </a:p>
        </p:txBody>
      </p:sp>
      <p:sp>
        <p:nvSpPr>
          <p:cNvPr id="24" name="Shape 22"/>
          <p:cNvSpPr/>
          <p:nvPr/>
        </p:nvSpPr>
        <p:spPr>
          <a:xfrm>
            <a:off x="7290554" y="5836920"/>
            <a:ext cx="203180" cy="203180"/>
          </a:xfrm>
          <a:prstGeom prst="roundRect">
            <a:avLst>
              <a:gd name="adj" fmla="val 18752"/>
            </a:avLst>
          </a:prstGeom>
          <a:solidFill>
            <a:srgbClr val="BE3A20"/>
          </a:solidFill>
          <a:ln/>
        </p:spPr>
        <p:txBody>
          <a:bodyPr/>
          <a:p/>
        </p:txBody>
      </p:sp>
      <p:sp>
        <p:nvSpPr>
          <p:cNvPr id="25" name="Text 23"/>
          <p:cNvSpPr/>
          <p:nvPr/>
        </p:nvSpPr>
        <p:spPr>
          <a:xfrm>
            <a:off x="7595295" y="5831860"/>
            <a:ext cx="16514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1D"/>
                </a:solidFill>
                <a:latin typeface="IBM Plex Sans" pitchFamily="34" charset="0"/>
                <a:ea typeface="IBM Plex Sans" pitchFamily="34" charset="-122"/>
                <a:cs typeface="IBM Plex Sans" pitchFamily="34" charset="-120"/>
              </a:rPr>
              <a:t>Deep learning boom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4"/>
        </a:solidFill>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520A"/>
                </a:solidFill>
                <a:latin typeface="IBM Plex Sans" pitchFamily="34" charset="0"/>
                <a:ea typeface="IBM Plex Sans" pitchFamily="34" charset="-122"/>
                <a:cs typeface="IBM Plex Sans" pitchFamily="34" charset="-120"/>
              </a:rPr>
              <a:t>1943 – 1973 · SUMMER</a:t>
            </a:r>
            <a:endParaRPr lang="en-US" sz="1200" dirty="0"/>
          </a:p>
        </p:txBody>
      </p:sp>
      <p:sp>
        <p:nvSpPr>
          <p:cNvPr id="3" name="Text 1"/>
          <p:cNvSpPr/>
          <p:nvPr>
            <p:ph type="title"/>
          </p:nvPr>
        </p:nvSpPr>
        <p:spPr>
          <a:xfrm>
            <a:off x="812780" y="1102340"/>
            <a:ext cx="10883434"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D"/>
                </a:solidFill>
                <a:latin typeface="Bricolage Grotesque" pitchFamily="34" charset="0"/>
                <a:ea typeface="Bricolage Grotesque" pitchFamily="34" charset="-122"/>
                <a:cs typeface="Bricolage Grotesque" pitchFamily="34" charset="-120"/>
              </a:rPr>
              <a:t>The birth of AI</a:t>
            </a:r>
            <a:endParaRPr lang="en-US" sz="3600" dirty="0"/>
          </a:p>
        </p:txBody>
      </p:sp>
      <p:sp>
        <p:nvSpPr>
          <p:cNvPr id="4" name="Shape 2"/>
          <p:cNvSpPr/>
          <p:nvPr/>
        </p:nvSpPr>
        <p:spPr>
          <a:xfrm>
            <a:off x="815955" y="1862396"/>
            <a:ext cx="2482830" cy="1885851"/>
          </a:xfrm>
          <a:prstGeom prst="roundRect">
            <a:avLst>
              <a:gd name="adj" fmla="val 5219"/>
            </a:avLst>
          </a:prstGeom>
          <a:solidFill>
            <a:srgbClr val="FBFCFB"/>
          </a:solidFill>
          <a:ln w="6350">
            <a:solidFill>
              <a:srgbClr val="D2DBD8"/>
            </a:solidFill>
            <a:prstDash val="solid"/>
          </a:ln>
        </p:spPr>
        <p:txBody>
          <a:bodyPr/>
          <a:p/>
        </p:txBody>
      </p:sp>
      <p:sp>
        <p:nvSpPr>
          <p:cNvPr id="5" name="Text 3"/>
          <p:cNvSpPr/>
          <p:nvPr/>
        </p:nvSpPr>
        <p:spPr>
          <a:xfrm>
            <a:off x="1045190" y="2091630"/>
            <a:ext cx="208509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9A520A"/>
                </a:solidFill>
                <a:latin typeface="Bricolage Grotesque" pitchFamily="34" charset="0"/>
                <a:ea typeface="Bricolage Grotesque" pitchFamily="34" charset="-122"/>
                <a:cs typeface="Bricolage Grotesque" pitchFamily="34" charset="-120"/>
              </a:rPr>
              <a:t>1950</a:t>
            </a:r>
            <a:endParaRPr lang="en-US" sz="2200" dirty="0"/>
          </a:p>
        </p:txBody>
      </p:sp>
      <p:sp>
        <p:nvSpPr>
          <p:cNvPr id="6" name="Text 4"/>
          <p:cNvSpPr/>
          <p:nvPr/>
        </p:nvSpPr>
        <p:spPr>
          <a:xfrm>
            <a:off x="1045190" y="2558951"/>
            <a:ext cx="208509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D"/>
                </a:solidFill>
                <a:latin typeface="IBM Plex Sans" pitchFamily="34" charset="0"/>
                <a:ea typeface="IBM Plex Sans" pitchFamily="34" charset="-122"/>
                <a:cs typeface="IBM Plex Sans" pitchFamily="34" charset="-120"/>
              </a:rPr>
              <a:t>Turing Test</a:t>
            </a:r>
            <a:endParaRPr lang="en-US" sz="1600" dirty="0"/>
          </a:p>
        </p:txBody>
      </p:sp>
      <p:sp>
        <p:nvSpPr>
          <p:cNvPr id="7" name="Text 5"/>
          <p:cNvSpPr/>
          <p:nvPr/>
        </p:nvSpPr>
        <p:spPr>
          <a:xfrm>
            <a:off x="1045190" y="2878931"/>
            <a:ext cx="208509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E5B"/>
                </a:solidFill>
                <a:latin typeface="IBM Plex Sans" pitchFamily="34" charset="0"/>
                <a:ea typeface="IBM Plex Sans" pitchFamily="34" charset="-122"/>
                <a:cs typeface="IBM Plex Sans" pitchFamily="34" charset="-120"/>
              </a:rPr>
              <a:t>Alan Turing asks “Can machines think?” and proposes the imitation game.</a:t>
            </a:r>
            <a:endParaRPr lang="en-US" sz="1200" dirty="0"/>
          </a:p>
        </p:txBody>
      </p:sp>
      <p:sp>
        <p:nvSpPr>
          <p:cNvPr id="8" name="Shape 6"/>
          <p:cNvSpPr/>
          <p:nvPr/>
        </p:nvSpPr>
        <p:spPr>
          <a:xfrm>
            <a:off x="3508316" y="1862396"/>
            <a:ext cx="2482890" cy="1885851"/>
          </a:xfrm>
          <a:prstGeom prst="roundRect">
            <a:avLst>
              <a:gd name="adj" fmla="val 5219"/>
            </a:avLst>
          </a:prstGeom>
          <a:solidFill>
            <a:srgbClr val="FBFCFB"/>
          </a:solidFill>
          <a:ln w="6350">
            <a:solidFill>
              <a:srgbClr val="D2DBD8"/>
            </a:solidFill>
            <a:prstDash val="solid"/>
          </a:ln>
        </p:spPr>
        <p:txBody>
          <a:bodyPr/>
          <a:p/>
        </p:txBody>
      </p:sp>
      <p:sp>
        <p:nvSpPr>
          <p:cNvPr id="9" name="Text 7"/>
          <p:cNvSpPr/>
          <p:nvPr/>
        </p:nvSpPr>
        <p:spPr>
          <a:xfrm>
            <a:off x="3737551" y="2091630"/>
            <a:ext cx="208515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9A520A"/>
                </a:solidFill>
                <a:latin typeface="Bricolage Grotesque" pitchFamily="34" charset="0"/>
                <a:ea typeface="Bricolage Grotesque" pitchFamily="34" charset="-122"/>
                <a:cs typeface="Bricolage Grotesque" pitchFamily="34" charset="-120"/>
              </a:rPr>
              <a:t>1956</a:t>
            </a:r>
            <a:endParaRPr lang="en-US" sz="2200" dirty="0"/>
          </a:p>
        </p:txBody>
      </p:sp>
      <p:sp>
        <p:nvSpPr>
          <p:cNvPr id="10" name="Text 8"/>
          <p:cNvSpPr/>
          <p:nvPr/>
        </p:nvSpPr>
        <p:spPr>
          <a:xfrm>
            <a:off x="3737551" y="2558951"/>
            <a:ext cx="225048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D"/>
                </a:solidFill>
                <a:latin typeface="IBM Plex Sans" pitchFamily="34" charset="0"/>
                <a:ea typeface="IBM Plex Sans" pitchFamily="34" charset="-122"/>
                <a:cs typeface="IBM Plex Sans" pitchFamily="34" charset="-120"/>
              </a:rPr>
              <a:t>Dartmouth Workshop</a:t>
            </a:r>
            <a:endParaRPr lang="en-US" sz="1600" dirty="0"/>
          </a:p>
        </p:txBody>
      </p:sp>
      <p:sp>
        <p:nvSpPr>
          <p:cNvPr id="11" name="Text 9"/>
          <p:cNvSpPr/>
          <p:nvPr/>
        </p:nvSpPr>
        <p:spPr>
          <a:xfrm>
            <a:off x="3737551" y="2878931"/>
            <a:ext cx="208515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E5B"/>
                </a:solidFill>
                <a:latin typeface="IBM Plex Sans" pitchFamily="34" charset="0"/>
                <a:ea typeface="IBM Plex Sans" pitchFamily="34" charset="-122"/>
                <a:cs typeface="IBM Plex Sans" pitchFamily="34" charset="-120"/>
              </a:rPr>
              <a:t>John McCarthy, Marvin Minsky and Claude Shannon coin “artificial intelligence.”</a:t>
            </a:r>
            <a:endParaRPr lang="en-US" sz="1200" dirty="0"/>
          </a:p>
        </p:txBody>
      </p:sp>
      <p:sp>
        <p:nvSpPr>
          <p:cNvPr id="12" name="Shape 10"/>
          <p:cNvSpPr/>
          <p:nvPr/>
        </p:nvSpPr>
        <p:spPr>
          <a:xfrm>
            <a:off x="6200735" y="1862396"/>
            <a:ext cx="2482890" cy="1885851"/>
          </a:xfrm>
          <a:prstGeom prst="roundRect">
            <a:avLst>
              <a:gd name="adj" fmla="val 5219"/>
            </a:avLst>
          </a:prstGeom>
          <a:solidFill>
            <a:srgbClr val="FBFCFB"/>
          </a:solidFill>
          <a:ln w="6350">
            <a:solidFill>
              <a:srgbClr val="D2DBD8"/>
            </a:solidFill>
            <a:prstDash val="solid"/>
          </a:ln>
        </p:spPr>
        <p:txBody>
          <a:bodyPr/>
          <a:p/>
        </p:txBody>
      </p:sp>
      <p:sp>
        <p:nvSpPr>
          <p:cNvPr id="13" name="Text 11"/>
          <p:cNvSpPr/>
          <p:nvPr/>
        </p:nvSpPr>
        <p:spPr>
          <a:xfrm>
            <a:off x="6429971" y="2091630"/>
            <a:ext cx="208515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9A520A"/>
                </a:solidFill>
                <a:latin typeface="Bricolage Grotesque" pitchFamily="34" charset="0"/>
                <a:ea typeface="Bricolage Grotesque" pitchFamily="34" charset="-122"/>
                <a:cs typeface="Bricolage Grotesque" pitchFamily="34" charset="-120"/>
              </a:rPr>
              <a:t>1958</a:t>
            </a:r>
            <a:endParaRPr lang="en-US" sz="2200" dirty="0"/>
          </a:p>
        </p:txBody>
      </p:sp>
      <p:sp>
        <p:nvSpPr>
          <p:cNvPr id="14" name="Text 12"/>
          <p:cNvSpPr/>
          <p:nvPr/>
        </p:nvSpPr>
        <p:spPr>
          <a:xfrm>
            <a:off x="6429971" y="2558951"/>
            <a:ext cx="208515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D"/>
                </a:solidFill>
                <a:latin typeface="IBM Plex Sans" pitchFamily="34" charset="0"/>
                <a:ea typeface="IBM Plex Sans" pitchFamily="34" charset="-122"/>
                <a:cs typeface="IBM Plex Sans" pitchFamily="34" charset="-120"/>
              </a:rPr>
              <a:t>Perceptron</a:t>
            </a:r>
            <a:endParaRPr lang="en-US" sz="1600" dirty="0"/>
          </a:p>
        </p:txBody>
      </p:sp>
      <p:sp>
        <p:nvSpPr>
          <p:cNvPr id="15" name="Text 13"/>
          <p:cNvSpPr/>
          <p:nvPr/>
        </p:nvSpPr>
        <p:spPr>
          <a:xfrm>
            <a:off x="6429971" y="2878931"/>
            <a:ext cx="208515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E5B"/>
                </a:solidFill>
                <a:latin typeface="IBM Plex Sans" pitchFamily="34" charset="0"/>
                <a:ea typeface="IBM Plex Sans" pitchFamily="34" charset="-122"/>
                <a:cs typeface="IBM Plex Sans" pitchFamily="34" charset="-120"/>
              </a:rPr>
              <a:t>Frank Rosenblatt builds the first neural network that learns from examples.</a:t>
            </a:r>
            <a:endParaRPr lang="en-US" sz="1200" dirty="0"/>
          </a:p>
        </p:txBody>
      </p:sp>
      <p:sp>
        <p:nvSpPr>
          <p:cNvPr id="16" name="Shape 14"/>
          <p:cNvSpPr/>
          <p:nvPr/>
        </p:nvSpPr>
        <p:spPr>
          <a:xfrm>
            <a:off x="8893156" y="1862396"/>
            <a:ext cx="2482890" cy="1885851"/>
          </a:xfrm>
          <a:prstGeom prst="roundRect">
            <a:avLst>
              <a:gd name="adj" fmla="val 5219"/>
            </a:avLst>
          </a:prstGeom>
          <a:solidFill>
            <a:srgbClr val="FBFCFB"/>
          </a:solidFill>
          <a:ln w="6350">
            <a:solidFill>
              <a:srgbClr val="D2DBD8"/>
            </a:solidFill>
            <a:prstDash val="solid"/>
          </a:ln>
        </p:spPr>
        <p:txBody>
          <a:bodyPr/>
          <a:p/>
        </p:txBody>
      </p:sp>
      <p:sp>
        <p:nvSpPr>
          <p:cNvPr id="17" name="Text 15"/>
          <p:cNvSpPr/>
          <p:nvPr/>
        </p:nvSpPr>
        <p:spPr>
          <a:xfrm>
            <a:off x="9122390" y="2091630"/>
            <a:ext cx="208515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9A520A"/>
                </a:solidFill>
                <a:latin typeface="Bricolage Grotesque" pitchFamily="34" charset="0"/>
                <a:ea typeface="Bricolage Grotesque" pitchFamily="34" charset="-122"/>
                <a:cs typeface="Bricolage Grotesque" pitchFamily="34" charset="-120"/>
              </a:rPr>
              <a:t>1966</a:t>
            </a:r>
            <a:endParaRPr lang="en-US" sz="2200" dirty="0"/>
          </a:p>
        </p:txBody>
      </p:sp>
      <p:sp>
        <p:nvSpPr>
          <p:cNvPr id="18" name="Text 16"/>
          <p:cNvSpPr/>
          <p:nvPr/>
        </p:nvSpPr>
        <p:spPr>
          <a:xfrm>
            <a:off x="9122390" y="2558951"/>
            <a:ext cx="208515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D"/>
                </a:solidFill>
                <a:latin typeface="IBM Plex Sans" pitchFamily="34" charset="0"/>
                <a:ea typeface="IBM Plex Sans" pitchFamily="34" charset="-122"/>
                <a:cs typeface="IBM Plex Sans" pitchFamily="34" charset="-120"/>
              </a:rPr>
              <a:t>ELIZA</a:t>
            </a:r>
            <a:endParaRPr lang="en-US" sz="1600" dirty="0"/>
          </a:p>
        </p:txBody>
      </p:sp>
      <p:sp>
        <p:nvSpPr>
          <p:cNvPr id="19" name="Text 17"/>
          <p:cNvSpPr/>
          <p:nvPr/>
        </p:nvSpPr>
        <p:spPr>
          <a:xfrm>
            <a:off x="9122390" y="2878931"/>
            <a:ext cx="208515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E5B"/>
                </a:solidFill>
                <a:latin typeface="IBM Plex Sans" pitchFamily="34" charset="0"/>
                <a:ea typeface="IBM Plex Sans" pitchFamily="34" charset="-122"/>
                <a:cs typeface="IBM Plex Sans" pitchFamily="34" charset="-120"/>
              </a:rPr>
              <a:t>Joseph Weizenbaum’s chatbot fools users with simple pattern matching.</a:t>
            </a:r>
            <a:endParaRPr lang="en-US" sz="1200" dirty="0"/>
          </a:p>
        </p:txBody>
      </p:sp>
      <p:sp>
        <p:nvSpPr>
          <p:cNvPr id="20" name="Text 18"/>
          <p:cNvSpPr/>
          <p:nvPr/>
        </p:nvSpPr>
        <p:spPr>
          <a:xfrm>
            <a:off x="812780" y="5120819"/>
            <a:ext cx="10566440" cy="924401"/>
          </a:xfrm>
          <a:prstGeom prst="roundRect">
            <a:avLst>
              <a:gd name="adj" fmla="val 10991"/>
            </a:avLst>
          </a:prstGeom>
          <a:solidFill>
            <a:srgbClr val="E9EEEC"/>
          </a:solidFill>
          <a:ln/>
        </p:spPr>
        <p:txBody>
          <a:bodyPr wrap="square" lIns="198842" tIns="148042" rIns="0" bIns="122642" rtlCol="0" anchor="t">
            <a:normAutofit/>
          </a:bodyPr>
          <a:lstStyle/>
          <a:p>
            <a:pPr algn="l" indent="0" marL="0">
              <a:lnSpc>
                <a:spcPts val="2240"/>
              </a:lnSpc>
              <a:buNone/>
            </a:pPr>
            <a:r>
              <a:rPr lang="en-US" sz="1600" b="1" dirty="0">
                <a:solidFill>
                  <a:srgbClr val="14201D"/>
                </a:solidFill>
                <a:latin typeface="IBM Plex Sans" pitchFamily="34" charset="0"/>
                <a:ea typeface="IBM Plex Sans" pitchFamily="34" charset="-122"/>
                <a:cs typeface="IBM Plex Sans" pitchFamily="34" charset="-120"/>
              </a:rPr>
              <a:t>The warning sign, 1969:</a:t>
            </a:r>
            <a:r>
              <a:rPr lang="en-US" sz="1600" dirty="0">
                <a:solidFill>
                  <a:srgbClr val="14201D"/>
                </a:solidFill>
                <a:latin typeface="IBM Plex Sans" pitchFamily="34" charset="0"/>
                <a:ea typeface="IBM Plex Sans" pitchFamily="34" charset="-122"/>
                <a:cs typeface="IBM Plex Sans" pitchFamily="34" charset="-120"/>
              </a:rPr>
              <a:t> Minsky and Papert’s book </a:t>
            </a:r>
            <a:r>
              <a:rPr lang="en-US" sz="1600" i="1" dirty="0">
                <a:solidFill>
                  <a:srgbClr val="14201D"/>
                </a:solidFill>
                <a:latin typeface="IBM Plex Sans" pitchFamily="34" charset="0"/>
                <a:ea typeface="IBM Plex Sans" pitchFamily="34" charset="-122"/>
                <a:cs typeface="IBM Plex Sans" pitchFamily="34" charset="-120"/>
              </a:rPr>
              <a:t>Perceptrons</a:t>
            </a:r>
            <a:r>
              <a:rPr lang="en-US" sz="1600" dirty="0">
                <a:solidFill>
                  <a:srgbClr val="14201D"/>
                </a:solidFill>
                <a:latin typeface="IBM Plex Sans" pitchFamily="34" charset="0"/>
                <a:ea typeface="IBM Plex Sans" pitchFamily="34" charset="-122"/>
                <a:cs typeface="IBM Plex Sans" pitchFamily="34" charset="-120"/>
              </a:rPr>
              <a:t> shows single-layer networks can’t learn simple functions like XOR. Neural-network funding dries up.</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01D"/>
        </a:solidFill>
      </p:bgPr>
    </p:bg>
    <p:spTree>
      <p:nvGrpSpPr>
        <p:cNvPr id="1" name=""/>
        <p:cNvGrpSpPr/>
        <p:nvPr/>
      </p:nvGrpSpPr>
      <p:grpSpPr>
        <a:xfrm>
          <a:off x="0" y="0"/>
          <a:ext cx="0" cy="0"/>
          <a:chOff x="0" y="0"/>
          <a:chExt cx="0" cy="0"/>
        </a:xfrm>
      </p:grpSpPr>
      <p:sp>
        <p:nvSpPr>
          <p:cNvPr id="2" name="Text 0"/>
          <p:cNvSpPr/>
          <p:nvPr/>
        </p:nvSpPr>
        <p:spPr>
          <a:xfrm>
            <a:off x="812780" y="812780"/>
            <a:ext cx="10883434"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DB2DC"/>
                </a:solidFill>
                <a:latin typeface="IBM Plex Sans" pitchFamily="34" charset="0"/>
                <a:ea typeface="IBM Plex Sans" pitchFamily="34" charset="-122"/>
                <a:cs typeface="IBM Plex Sans" pitchFamily="34" charset="-120"/>
              </a:rPr>
              <a:t>1974 – 1980 · WINTER</a:t>
            </a:r>
            <a:endParaRPr lang="en-US" sz="1200" dirty="0"/>
          </a:p>
        </p:txBody>
      </p:sp>
      <p:sp>
        <p:nvSpPr>
          <p:cNvPr id="3" name="Text 1"/>
          <p:cNvSpPr/>
          <p:nvPr>
            <p:ph type="title"/>
          </p:nvPr>
        </p:nvSpPr>
        <p:spPr>
          <a:xfrm>
            <a:off x="812780" y="1102339"/>
            <a:ext cx="10883434"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5F4"/>
                </a:solidFill>
                <a:latin typeface="Bricolage Grotesque" pitchFamily="34" charset="0"/>
                <a:ea typeface="Bricolage Grotesque" pitchFamily="34" charset="-122"/>
                <a:cs typeface="Bricolage Grotesque" pitchFamily="34" charset="-120"/>
              </a:rPr>
              <a:t>The first AI winter</a:t>
            </a:r>
            <a:endParaRPr lang="en-US" sz="3600" dirty="0"/>
          </a:p>
        </p:txBody>
      </p:sp>
      <p:sp>
        <p:nvSpPr>
          <p:cNvPr id="4" name="Shape 2"/>
          <p:cNvSpPr/>
          <p:nvPr/>
        </p:nvSpPr>
        <p:spPr>
          <a:xfrm>
            <a:off x="815955" y="1913235"/>
            <a:ext cx="5175250" cy="2728873"/>
          </a:xfrm>
          <a:prstGeom prst="roundRect">
            <a:avLst>
              <a:gd name="adj" fmla="val 3607"/>
            </a:avLst>
          </a:prstGeom>
          <a:solidFill>
            <a:srgbClr val="1B2A27"/>
          </a:solidFill>
          <a:ln w="6350">
            <a:solidFill>
              <a:srgbClr val="2F4A5C"/>
            </a:solidFill>
            <a:prstDash val="solid"/>
          </a:ln>
        </p:spPr>
        <p:txBody>
          <a:bodyPr/>
          <a:p/>
        </p:txBody>
      </p:sp>
      <p:sp>
        <p:nvSpPr>
          <p:cNvPr id="5" name="Text 3"/>
          <p:cNvSpPr/>
          <p:nvPr/>
        </p:nvSpPr>
        <p:spPr>
          <a:xfrm>
            <a:off x="1095970" y="2193249"/>
            <a:ext cx="4753676" cy="3606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DB2DC"/>
                </a:solidFill>
                <a:latin typeface="IBM Plex Sans" pitchFamily="34" charset="0"/>
                <a:ea typeface="IBM Plex Sans" pitchFamily="34" charset="-122"/>
                <a:cs typeface="IBM Plex Sans" pitchFamily="34" charset="-120"/>
              </a:rPr>
              <a:t>Causes</a:t>
            </a:r>
            <a:endParaRPr lang="en-US" sz="2200" dirty="0"/>
          </a:p>
        </p:txBody>
      </p:sp>
      <p:sp>
        <p:nvSpPr>
          <p:cNvPr id="6" name="Text 4"/>
          <p:cNvSpPr/>
          <p:nvPr/>
        </p:nvSpPr>
        <p:spPr>
          <a:xfrm>
            <a:off x="1153628" y="2655450"/>
            <a:ext cx="4688398" cy="1732042"/>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DCE5E2"/>
                </a:solidFill>
                <a:latin typeface="IBM Plex Sans" pitchFamily="34" charset="0"/>
                <a:ea typeface="IBM Plex Sans" pitchFamily="34" charset="-122"/>
                <a:cs typeface="IBM Plex Sans" pitchFamily="34" charset="-120"/>
              </a:rPr>
              <a:t>Overpromising: human-level AI “within 20 years”</a:t>
            </a:r>
            <a:endParaRPr lang="en-US" sz="1600" dirty="0"/>
          </a:p>
          <a:p>
            <a:pPr algn="l" marL="196342" indent="-196342">
              <a:lnSpc>
                <a:spcPts val="2240"/>
              </a:lnSpc>
              <a:buSzPct val="100000"/>
              <a:buChar char="•"/>
            </a:pPr>
            <a:r>
              <a:rPr lang="en-US" sz="1600" dirty="0">
                <a:solidFill>
                  <a:srgbClr val="DCE5E2"/>
                </a:solidFill>
                <a:latin typeface="IBM Plex Sans" pitchFamily="34" charset="0"/>
                <a:ea typeface="IBM Plex Sans" pitchFamily="34" charset="-122"/>
                <a:cs typeface="IBM Plex Sans" pitchFamily="34" charset="-120"/>
              </a:rPr>
              <a:t>Weak hardware with kilobytes of memory</a:t>
            </a:r>
            <a:endParaRPr lang="en-US" sz="1600" dirty="0"/>
          </a:p>
          <a:p>
            <a:pPr algn="l" marL="196342" indent="-196342">
              <a:lnSpc>
                <a:spcPts val="2240"/>
              </a:lnSpc>
              <a:buSzPct val="100000"/>
              <a:buChar char="•"/>
            </a:pPr>
            <a:r>
              <a:rPr lang="en-US" sz="1600" dirty="0">
                <a:solidFill>
                  <a:srgbClr val="DCE5E2"/>
                </a:solidFill>
                <a:latin typeface="IBM Plex Sans" pitchFamily="34" charset="0"/>
                <a:ea typeface="IBM Plex Sans" pitchFamily="34" charset="-122"/>
                <a:cs typeface="IBM Plex Sans" pitchFamily="34" charset="-120"/>
              </a:rPr>
              <a:t>Toy solutions failed on real-world problems</a:t>
            </a:r>
            <a:endParaRPr lang="en-US" sz="1600" dirty="0"/>
          </a:p>
          <a:p>
            <a:pPr algn="l" marL="196342" indent="-196342">
              <a:lnSpc>
                <a:spcPts val="2240"/>
              </a:lnSpc>
              <a:buSzPct val="100000"/>
              <a:buChar char="•"/>
            </a:pPr>
            <a:r>
              <a:rPr lang="en-US" sz="1600" dirty="0">
                <a:solidFill>
                  <a:srgbClr val="DCE5E2"/>
                </a:solidFill>
                <a:latin typeface="IBM Plex Sans" pitchFamily="34" charset="0"/>
                <a:ea typeface="IBM Plex Sans" pitchFamily="34" charset="-122"/>
                <a:cs typeface="IBM Plex Sans" pitchFamily="34" charset="-120"/>
              </a:rPr>
              <a:t>1973 Lighthill Report: UK cuts funding, DARPA follows</a:t>
            </a:r>
            <a:endParaRPr lang="en-US" sz="1600" dirty="0"/>
          </a:p>
        </p:txBody>
      </p:sp>
      <p:sp>
        <p:nvSpPr>
          <p:cNvPr id="7" name="Shape 5"/>
          <p:cNvSpPr/>
          <p:nvPr/>
        </p:nvSpPr>
        <p:spPr>
          <a:xfrm>
            <a:off x="6200735" y="1913235"/>
            <a:ext cx="5175310" cy="2728873"/>
          </a:xfrm>
          <a:prstGeom prst="roundRect">
            <a:avLst>
              <a:gd name="adj" fmla="val 3607"/>
            </a:avLst>
          </a:prstGeom>
          <a:solidFill>
            <a:srgbClr val="1B2A27"/>
          </a:solidFill>
          <a:ln w="6350">
            <a:solidFill>
              <a:srgbClr val="2F4A5C"/>
            </a:solidFill>
            <a:prstDash val="solid"/>
          </a:ln>
        </p:spPr>
        <p:txBody>
          <a:bodyPr/>
          <a:p/>
        </p:txBody>
      </p:sp>
      <p:sp>
        <p:nvSpPr>
          <p:cNvPr id="8" name="Text 6"/>
          <p:cNvSpPr/>
          <p:nvPr/>
        </p:nvSpPr>
        <p:spPr>
          <a:xfrm>
            <a:off x="6480751" y="2193249"/>
            <a:ext cx="4753738" cy="3606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DB2DC"/>
                </a:solidFill>
                <a:latin typeface="IBM Plex Sans" pitchFamily="34" charset="0"/>
                <a:ea typeface="IBM Plex Sans" pitchFamily="34" charset="-122"/>
                <a:cs typeface="IBM Plex Sans" pitchFamily="34" charset="-120"/>
              </a:rPr>
              <a:t>Impact</a:t>
            </a:r>
            <a:endParaRPr lang="en-US" sz="2200" dirty="0"/>
          </a:p>
        </p:txBody>
      </p:sp>
      <p:sp>
        <p:nvSpPr>
          <p:cNvPr id="9" name="Text 7"/>
          <p:cNvSpPr/>
          <p:nvPr/>
        </p:nvSpPr>
        <p:spPr>
          <a:xfrm>
            <a:off x="6538409" y="2655450"/>
            <a:ext cx="4688460" cy="878721"/>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DCE5E2"/>
                </a:solidFill>
                <a:latin typeface="IBM Plex Sans" pitchFamily="34" charset="0"/>
                <a:ea typeface="IBM Plex Sans" pitchFamily="34" charset="-122"/>
                <a:cs typeface="IBM Plex Sans" pitchFamily="34" charset="-120"/>
              </a:rPr>
              <a:t>Grants vanish and labs shrink</a:t>
            </a:r>
            <a:endParaRPr lang="en-US" sz="1600" dirty="0"/>
          </a:p>
          <a:p>
            <a:pPr algn="l" marL="196342" indent="-196342">
              <a:lnSpc>
                <a:spcPts val="2240"/>
              </a:lnSpc>
              <a:buSzPct val="100000"/>
              <a:buChar char="•"/>
            </a:pPr>
            <a:r>
              <a:rPr lang="en-US" sz="1600" dirty="0">
                <a:solidFill>
                  <a:srgbClr val="DCE5E2"/>
                </a:solidFill>
                <a:latin typeface="IBM Plex Sans" pitchFamily="34" charset="0"/>
                <a:ea typeface="IBM Plex Sans" pitchFamily="34" charset="-122"/>
                <a:cs typeface="IBM Plex Sans" pitchFamily="34" charset="-120"/>
              </a:rPr>
              <a:t>Neural-network research nearly stops</a:t>
            </a:r>
            <a:endParaRPr lang="en-US" sz="1600" dirty="0"/>
          </a:p>
          <a:p>
            <a:pPr algn="l" marL="196342" indent="-196342">
              <a:lnSpc>
                <a:spcPts val="2240"/>
              </a:lnSpc>
              <a:buSzPct val="100000"/>
              <a:buChar char="•"/>
            </a:pPr>
            <a:r>
              <a:rPr lang="en-US" sz="1600" dirty="0">
                <a:solidFill>
                  <a:srgbClr val="DCE5E2"/>
                </a:solidFill>
                <a:latin typeface="IBM Plex Sans" pitchFamily="34" charset="0"/>
                <a:ea typeface="IBM Plex Sans" pitchFamily="34" charset="-122"/>
                <a:cs typeface="IBM Plex Sans" pitchFamily="34" charset="-120"/>
              </a:rPr>
              <a:t>Researchers avoid the label “AI” on their work</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4"/>
        </a:solidFill>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520A"/>
                </a:solidFill>
                <a:latin typeface="IBM Plex Sans" pitchFamily="34" charset="0"/>
                <a:ea typeface="IBM Plex Sans" pitchFamily="34" charset="-122"/>
                <a:cs typeface="IBM Plex Sans" pitchFamily="34" charset="-120"/>
              </a:rPr>
              <a:t>1980 – 1987 · SUMMER</a:t>
            </a:r>
            <a:endParaRPr lang="en-US" sz="1200" dirty="0"/>
          </a:p>
        </p:txBody>
      </p:sp>
      <p:sp>
        <p:nvSpPr>
          <p:cNvPr id="3" name="Text 1"/>
          <p:cNvSpPr/>
          <p:nvPr>
            <p:ph type="title"/>
          </p:nvPr>
        </p:nvSpPr>
        <p:spPr>
          <a:xfrm>
            <a:off x="812780" y="1102342"/>
            <a:ext cx="10883434"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D"/>
                </a:solidFill>
                <a:latin typeface="Bricolage Grotesque" pitchFamily="34" charset="0"/>
                <a:ea typeface="Bricolage Grotesque" pitchFamily="34" charset="-122"/>
                <a:cs typeface="Bricolage Grotesque" pitchFamily="34" charset="-120"/>
              </a:rPr>
              <a:t>The expert systems boom</a:t>
            </a:r>
            <a:endParaRPr lang="en-US" sz="3600" dirty="0"/>
          </a:p>
        </p:txBody>
      </p:sp>
      <p:sp>
        <p:nvSpPr>
          <p:cNvPr id="4" name="Shape 2"/>
          <p:cNvSpPr/>
          <p:nvPr/>
        </p:nvSpPr>
        <p:spPr>
          <a:xfrm>
            <a:off x="815955" y="1913235"/>
            <a:ext cx="3380324" cy="2200652"/>
          </a:xfrm>
          <a:prstGeom prst="roundRect">
            <a:avLst>
              <a:gd name="adj" fmla="val 4473"/>
            </a:avLst>
          </a:prstGeom>
          <a:solidFill>
            <a:srgbClr val="FBFCFB"/>
          </a:solidFill>
          <a:ln w="6350">
            <a:solidFill>
              <a:srgbClr val="D2DBD8"/>
            </a:solidFill>
            <a:prstDash val="solid"/>
          </a:ln>
        </p:spPr>
        <p:txBody>
          <a:bodyPr/>
          <a:p/>
        </p:txBody>
      </p:sp>
      <p:sp>
        <p:nvSpPr>
          <p:cNvPr id="5" name="Text 3"/>
          <p:cNvSpPr/>
          <p:nvPr/>
        </p:nvSpPr>
        <p:spPr>
          <a:xfrm>
            <a:off x="1070551" y="2167830"/>
            <a:ext cx="295726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9A520A"/>
                </a:solidFill>
                <a:latin typeface="Bricolage Grotesque" pitchFamily="34" charset="0"/>
                <a:ea typeface="Bricolage Grotesque" pitchFamily="34" charset="-122"/>
                <a:cs typeface="Bricolage Grotesque" pitchFamily="34" charset="-120"/>
              </a:rPr>
              <a:t>1980</a:t>
            </a:r>
            <a:endParaRPr lang="en-US" sz="2200" dirty="0"/>
          </a:p>
        </p:txBody>
      </p:sp>
      <p:sp>
        <p:nvSpPr>
          <p:cNvPr id="6" name="Text 4"/>
          <p:cNvSpPr/>
          <p:nvPr/>
        </p:nvSpPr>
        <p:spPr>
          <a:xfrm>
            <a:off x="1070551" y="2660514"/>
            <a:ext cx="295726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D"/>
                </a:solidFill>
                <a:latin typeface="IBM Plex Sans" pitchFamily="34" charset="0"/>
                <a:ea typeface="IBM Plex Sans" pitchFamily="34" charset="-122"/>
                <a:cs typeface="IBM Plex Sans" pitchFamily="34" charset="-120"/>
              </a:rPr>
              <a:t>XCON at DEC</a:t>
            </a:r>
            <a:endParaRPr lang="en-US" sz="1600" dirty="0"/>
          </a:p>
        </p:txBody>
      </p:sp>
      <p:sp>
        <p:nvSpPr>
          <p:cNvPr id="7" name="Text 5"/>
          <p:cNvSpPr/>
          <p:nvPr/>
        </p:nvSpPr>
        <p:spPr>
          <a:xfrm>
            <a:off x="1070551" y="3005854"/>
            <a:ext cx="295726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E5B"/>
                </a:solidFill>
                <a:latin typeface="IBM Plex Sans" pitchFamily="34" charset="0"/>
                <a:ea typeface="IBM Plex Sans" pitchFamily="34" charset="-122"/>
                <a:cs typeface="IBM Plex Sans" pitchFamily="34" charset="-120"/>
              </a:rPr>
              <a:t>A rule-based expert system configures computer orders and saves Digital Equipment Corp. millions a year. AI becomes an industry.</a:t>
            </a:r>
            <a:endParaRPr lang="en-US" sz="1200" dirty="0"/>
          </a:p>
        </p:txBody>
      </p:sp>
      <p:sp>
        <p:nvSpPr>
          <p:cNvPr id="8" name="Shape 6"/>
          <p:cNvSpPr/>
          <p:nvPr/>
        </p:nvSpPr>
        <p:spPr>
          <a:xfrm>
            <a:off x="4405809" y="1913235"/>
            <a:ext cx="3380383" cy="2200652"/>
          </a:xfrm>
          <a:prstGeom prst="roundRect">
            <a:avLst>
              <a:gd name="adj" fmla="val 4473"/>
            </a:avLst>
          </a:prstGeom>
          <a:solidFill>
            <a:srgbClr val="FBFCFB"/>
          </a:solidFill>
          <a:ln w="6350">
            <a:solidFill>
              <a:srgbClr val="D2DBD8"/>
            </a:solidFill>
            <a:prstDash val="solid"/>
          </a:ln>
        </p:spPr>
        <p:txBody>
          <a:bodyPr/>
          <a:p/>
        </p:txBody>
      </p:sp>
      <p:sp>
        <p:nvSpPr>
          <p:cNvPr id="9" name="Text 7"/>
          <p:cNvSpPr/>
          <p:nvPr/>
        </p:nvSpPr>
        <p:spPr>
          <a:xfrm>
            <a:off x="4660404" y="2167830"/>
            <a:ext cx="295732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9A520A"/>
                </a:solidFill>
                <a:latin typeface="Bricolage Grotesque" pitchFamily="34" charset="0"/>
                <a:ea typeface="Bricolage Grotesque" pitchFamily="34" charset="-122"/>
                <a:cs typeface="Bricolage Grotesque" pitchFamily="34" charset="-120"/>
              </a:rPr>
              <a:t>1982</a:t>
            </a:r>
            <a:endParaRPr lang="en-US" sz="2200" dirty="0"/>
          </a:p>
        </p:txBody>
      </p:sp>
      <p:sp>
        <p:nvSpPr>
          <p:cNvPr id="10" name="Text 8"/>
          <p:cNvSpPr/>
          <p:nvPr/>
        </p:nvSpPr>
        <p:spPr>
          <a:xfrm>
            <a:off x="4660404" y="2660514"/>
            <a:ext cx="295732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D"/>
                </a:solidFill>
                <a:latin typeface="IBM Plex Sans" pitchFamily="34" charset="0"/>
                <a:ea typeface="IBM Plex Sans" pitchFamily="34" charset="-122"/>
                <a:cs typeface="IBM Plex Sans" pitchFamily="34" charset="-120"/>
              </a:rPr>
              <a:t>Japan’s Fifth Generation</a:t>
            </a:r>
            <a:endParaRPr lang="en-US" sz="1600" dirty="0"/>
          </a:p>
        </p:txBody>
      </p:sp>
      <p:sp>
        <p:nvSpPr>
          <p:cNvPr id="11" name="Text 9"/>
          <p:cNvSpPr/>
          <p:nvPr/>
        </p:nvSpPr>
        <p:spPr>
          <a:xfrm>
            <a:off x="4660404" y="3005854"/>
            <a:ext cx="295732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E5B"/>
                </a:solidFill>
                <a:latin typeface="IBM Plex Sans" pitchFamily="34" charset="0"/>
                <a:ea typeface="IBM Plex Sans" pitchFamily="34" charset="-122"/>
                <a:cs typeface="IBM Plex Sans" pitchFamily="34" charset="-120"/>
              </a:rPr>
              <a:t>A national push for intelligent computers sets off a funding race in the US and UK.</a:t>
            </a:r>
            <a:endParaRPr lang="en-US" sz="1200" dirty="0"/>
          </a:p>
        </p:txBody>
      </p:sp>
      <p:sp>
        <p:nvSpPr>
          <p:cNvPr id="12" name="Shape 10"/>
          <p:cNvSpPr/>
          <p:nvPr/>
        </p:nvSpPr>
        <p:spPr>
          <a:xfrm>
            <a:off x="7995722" y="1913235"/>
            <a:ext cx="3380324" cy="2200652"/>
          </a:xfrm>
          <a:prstGeom prst="roundRect">
            <a:avLst>
              <a:gd name="adj" fmla="val 4473"/>
            </a:avLst>
          </a:prstGeom>
          <a:solidFill>
            <a:srgbClr val="FBFCFB"/>
          </a:solidFill>
          <a:ln w="6350">
            <a:solidFill>
              <a:srgbClr val="D2DBD8"/>
            </a:solidFill>
            <a:prstDash val="solid"/>
          </a:ln>
        </p:spPr>
        <p:txBody>
          <a:bodyPr/>
          <a:p/>
        </p:txBody>
      </p:sp>
      <p:sp>
        <p:nvSpPr>
          <p:cNvPr id="13" name="Text 11"/>
          <p:cNvSpPr/>
          <p:nvPr/>
        </p:nvSpPr>
        <p:spPr>
          <a:xfrm>
            <a:off x="8250317" y="2167830"/>
            <a:ext cx="295726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9A520A"/>
                </a:solidFill>
                <a:latin typeface="Bricolage Grotesque" pitchFamily="34" charset="0"/>
                <a:ea typeface="Bricolage Grotesque" pitchFamily="34" charset="-122"/>
                <a:cs typeface="Bricolage Grotesque" pitchFamily="34" charset="-120"/>
              </a:rPr>
              <a:t>1986</a:t>
            </a:r>
            <a:endParaRPr lang="en-US" sz="2200" dirty="0"/>
          </a:p>
        </p:txBody>
      </p:sp>
      <p:sp>
        <p:nvSpPr>
          <p:cNvPr id="14" name="Text 12"/>
          <p:cNvSpPr/>
          <p:nvPr/>
        </p:nvSpPr>
        <p:spPr>
          <a:xfrm>
            <a:off x="8250317" y="2660514"/>
            <a:ext cx="295726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D"/>
                </a:solidFill>
                <a:latin typeface="IBM Plex Sans" pitchFamily="34" charset="0"/>
                <a:ea typeface="IBM Plex Sans" pitchFamily="34" charset="-122"/>
                <a:cs typeface="IBM Plex Sans" pitchFamily="34" charset="-120"/>
              </a:rPr>
              <a:t>Backpropagation</a:t>
            </a:r>
            <a:endParaRPr lang="en-US" sz="1600" dirty="0"/>
          </a:p>
        </p:txBody>
      </p:sp>
      <p:sp>
        <p:nvSpPr>
          <p:cNvPr id="15" name="Text 13"/>
          <p:cNvSpPr/>
          <p:nvPr/>
        </p:nvSpPr>
        <p:spPr>
          <a:xfrm>
            <a:off x="8250317" y="3005854"/>
            <a:ext cx="295726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E5B"/>
                </a:solidFill>
                <a:latin typeface="IBM Plex Sans" pitchFamily="34" charset="0"/>
                <a:ea typeface="IBM Plex Sans" pitchFamily="34" charset="-122"/>
                <a:cs typeface="IBM Plex Sans" pitchFamily="34" charset="-120"/>
              </a:rPr>
              <a:t>Rumelhart, Hinton and Williams show how to train multi-layer neural networks. Deep learning still uses this method.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01D"/>
        </a:solidFill>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DB2DC"/>
                </a:solidFill>
                <a:latin typeface="IBM Plex Sans" pitchFamily="34" charset="0"/>
                <a:ea typeface="IBM Plex Sans" pitchFamily="34" charset="-122"/>
                <a:cs typeface="IBM Plex Sans" pitchFamily="34" charset="-120"/>
              </a:rPr>
              <a:t>1987 – 1993 · WINTER</a:t>
            </a:r>
            <a:endParaRPr lang="en-US" sz="1200" dirty="0"/>
          </a:p>
        </p:txBody>
      </p:sp>
      <p:sp>
        <p:nvSpPr>
          <p:cNvPr id="3" name="Text 1"/>
          <p:cNvSpPr/>
          <p:nvPr>
            <p:ph type="title"/>
          </p:nvPr>
        </p:nvSpPr>
        <p:spPr>
          <a:xfrm>
            <a:off x="812780" y="1102342"/>
            <a:ext cx="10883434"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5F4"/>
                </a:solidFill>
                <a:latin typeface="Bricolage Grotesque" pitchFamily="34" charset="0"/>
                <a:ea typeface="Bricolage Grotesque" pitchFamily="34" charset="-122"/>
                <a:cs typeface="Bricolage Grotesque" pitchFamily="34" charset="-120"/>
              </a:rPr>
              <a:t>The second AI winter</a:t>
            </a:r>
            <a:endParaRPr lang="en-US" sz="3600" dirty="0"/>
          </a:p>
        </p:txBody>
      </p:sp>
      <p:sp>
        <p:nvSpPr>
          <p:cNvPr id="4" name="Shape 2"/>
          <p:cNvSpPr/>
          <p:nvPr/>
        </p:nvSpPr>
        <p:spPr>
          <a:xfrm>
            <a:off x="815955" y="1913235"/>
            <a:ext cx="5175250" cy="2728873"/>
          </a:xfrm>
          <a:prstGeom prst="roundRect">
            <a:avLst>
              <a:gd name="adj" fmla="val 3607"/>
            </a:avLst>
          </a:prstGeom>
          <a:solidFill>
            <a:srgbClr val="1B2A27"/>
          </a:solidFill>
          <a:ln w="6350">
            <a:solidFill>
              <a:srgbClr val="2F4A5C"/>
            </a:solidFill>
            <a:prstDash val="solid"/>
          </a:ln>
        </p:spPr>
        <p:txBody>
          <a:bodyPr/>
          <a:p/>
        </p:txBody>
      </p:sp>
      <p:sp>
        <p:nvSpPr>
          <p:cNvPr id="5" name="Text 3"/>
          <p:cNvSpPr/>
          <p:nvPr/>
        </p:nvSpPr>
        <p:spPr>
          <a:xfrm>
            <a:off x="1095970" y="2193252"/>
            <a:ext cx="4753676" cy="3606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DB2DC"/>
                </a:solidFill>
                <a:latin typeface="IBM Plex Sans" pitchFamily="34" charset="0"/>
                <a:ea typeface="IBM Plex Sans" pitchFamily="34" charset="-122"/>
                <a:cs typeface="IBM Plex Sans" pitchFamily="34" charset="-120"/>
              </a:rPr>
              <a:t>Causes</a:t>
            </a:r>
            <a:endParaRPr lang="en-US" sz="2200" dirty="0"/>
          </a:p>
        </p:txBody>
      </p:sp>
      <p:sp>
        <p:nvSpPr>
          <p:cNvPr id="6" name="Text 4"/>
          <p:cNvSpPr/>
          <p:nvPr/>
        </p:nvSpPr>
        <p:spPr>
          <a:xfrm>
            <a:off x="1153628" y="2655453"/>
            <a:ext cx="4688398" cy="1732042"/>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DCE5E2"/>
                </a:solidFill>
                <a:latin typeface="IBM Plex Sans" pitchFamily="34" charset="0"/>
                <a:ea typeface="IBM Plex Sans" pitchFamily="34" charset="-122"/>
                <a:cs typeface="IBM Plex Sans" pitchFamily="34" charset="-120"/>
              </a:rPr>
              <a:t>Cheaper Apple and IBM desktops kill the Lisp machine market</a:t>
            </a:r>
            <a:endParaRPr lang="en-US" sz="1600" dirty="0"/>
          </a:p>
          <a:p>
            <a:pPr algn="l" marL="196342" indent="-196342">
              <a:lnSpc>
                <a:spcPts val="2240"/>
              </a:lnSpc>
              <a:buSzPct val="100000"/>
              <a:buChar char="•"/>
            </a:pPr>
            <a:r>
              <a:rPr lang="en-US" sz="1600" dirty="0">
                <a:solidFill>
                  <a:srgbClr val="DCE5E2"/>
                </a:solidFill>
                <a:latin typeface="IBM Plex Sans" pitchFamily="34" charset="0"/>
                <a:ea typeface="IBM Plex Sans" pitchFamily="34" charset="-122"/>
                <a:cs typeface="IBM Plex Sans" pitchFamily="34" charset="-120"/>
              </a:rPr>
              <a:t>Expert systems prove brittle and costly to update</a:t>
            </a:r>
            <a:endParaRPr lang="en-US" sz="1600" dirty="0"/>
          </a:p>
          <a:p>
            <a:pPr algn="l" marL="196342" indent="-196342">
              <a:lnSpc>
                <a:spcPts val="2240"/>
              </a:lnSpc>
              <a:buSzPct val="100000"/>
              <a:buChar char="•"/>
            </a:pPr>
            <a:r>
              <a:rPr lang="en-US" sz="1600" dirty="0">
                <a:solidFill>
                  <a:srgbClr val="DCE5E2"/>
                </a:solidFill>
                <a:latin typeface="IBM Plex Sans" pitchFamily="34" charset="0"/>
                <a:ea typeface="IBM Plex Sans" pitchFamily="34" charset="-122"/>
                <a:cs typeface="IBM Plex Sans" pitchFamily="34" charset="-120"/>
              </a:rPr>
              <a:t>Japan’s Fifth Generation misses its goals</a:t>
            </a:r>
            <a:endParaRPr lang="en-US" sz="1600" dirty="0"/>
          </a:p>
          <a:p>
            <a:pPr algn="l" marL="196342" indent="-196342">
              <a:lnSpc>
                <a:spcPts val="2240"/>
              </a:lnSpc>
              <a:buSzPct val="100000"/>
              <a:buChar char="•"/>
            </a:pPr>
            <a:r>
              <a:rPr lang="en-US" sz="1600" dirty="0">
                <a:solidFill>
                  <a:srgbClr val="DCE5E2"/>
                </a:solidFill>
                <a:latin typeface="IBM Plex Sans" pitchFamily="34" charset="0"/>
                <a:ea typeface="IBM Plex Sans" pitchFamily="34" charset="-122"/>
                <a:cs typeface="IBM Plex Sans" pitchFamily="34" charset="-120"/>
              </a:rPr>
              <a:t>DARPA cuts AI funding again</a:t>
            </a:r>
            <a:endParaRPr lang="en-US" sz="1600" dirty="0"/>
          </a:p>
        </p:txBody>
      </p:sp>
      <p:sp>
        <p:nvSpPr>
          <p:cNvPr id="7" name="Shape 5"/>
          <p:cNvSpPr/>
          <p:nvPr/>
        </p:nvSpPr>
        <p:spPr>
          <a:xfrm>
            <a:off x="6200735" y="1913235"/>
            <a:ext cx="5175310" cy="2728873"/>
          </a:xfrm>
          <a:prstGeom prst="roundRect">
            <a:avLst>
              <a:gd name="adj" fmla="val 3607"/>
            </a:avLst>
          </a:prstGeom>
          <a:solidFill>
            <a:srgbClr val="1B2A27"/>
          </a:solidFill>
          <a:ln w="6350">
            <a:solidFill>
              <a:srgbClr val="2F4A5C"/>
            </a:solidFill>
            <a:prstDash val="solid"/>
          </a:ln>
        </p:spPr>
        <p:txBody>
          <a:bodyPr/>
          <a:p/>
        </p:txBody>
      </p:sp>
      <p:sp>
        <p:nvSpPr>
          <p:cNvPr id="8" name="Text 6"/>
          <p:cNvSpPr/>
          <p:nvPr/>
        </p:nvSpPr>
        <p:spPr>
          <a:xfrm>
            <a:off x="6480751" y="2193252"/>
            <a:ext cx="4753738" cy="3606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DB2DC"/>
                </a:solidFill>
                <a:latin typeface="IBM Plex Sans" pitchFamily="34" charset="0"/>
                <a:ea typeface="IBM Plex Sans" pitchFamily="34" charset="-122"/>
                <a:cs typeface="IBM Plex Sans" pitchFamily="34" charset="-120"/>
              </a:rPr>
              <a:t>Impact</a:t>
            </a:r>
            <a:endParaRPr lang="en-US" sz="2200" dirty="0"/>
          </a:p>
        </p:txBody>
      </p:sp>
      <p:sp>
        <p:nvSpPr>
          <p:cNvPr id="9" name="Text 7"/>
          <p:cNvSpPr/>
          <p:nvPr/>
        </p:nvSpPr>
        <p:spPr>
          <a:xfrm>
            <a:off x="6538409" y="2655453"/>
            <a:ext cx="4688460" cy="1447602"/>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DCE5E2"/>
                </a:solidFill>
                <a:latin typeface="IBM Plex Sans" pitchFamily="34" charset="0"/>
                <a:ea typeface="IBM Plex Sans" pitchFamily="34" charset="-122"/>
                <a:cs typeface="IBM Plex Sans" pitchFamily="34" charset="-120"/>
              </a:rPr>
              <a:t>Hundreds of AI companies close</a:t>
            </a:r>
            <a:endParaRPr lang="en-US" sz="1600" dirty="0"/>
          </a:p>
          <a:p>
            <a:pPr algn="l" marL="196342" indent="-196342">
              <a:lnSpc>
                <a:spcPts val="2240"/>
              </a:lnSpc>
              <a:buSzPct val="100000"/>
              <a:buChar char="•"/>
            </a:pPr>
            <a:r>
              <a:rPr lang="en-US" sz="1600" dirty="0">
                <a:solidFill>
                  <a:srgbClr val="DCE5E2"/>
                </a:solidFill>
                <a:latin typeface="IBM Plex Sans" pitchFamily="34" charset="0"/>
                <a:ea typeface="IBM Plex Sans" pitchFamily="34" charset="-122"/>
                <a:cs typeface="IBM Plex Sans" pitchFamily="34" charset="-120"/>
              </a:rPr>
              <a:t>“AI” becomes a word to avoid in grant proposals</a:t>
            </a:r>
            <a:endParaRPr lang="en-US" sz="1600" dirty="0"/>
          </a:p>
          <a:p>
            <a:pPr algn="l" marL="196342" indent="-196342">
              <a:lnSpc>
                <a:spcPts val="2240"/>
              </a:lnSpc>
              <a:buSzPct val="100000"/>
              <a:buChar char="•"/>
            </a:pPr>
            <a:r>
              <a:rPr lang="en-US" sz="1600" dirty="0">
                <a:solidFill>
                  <a:srgbClr val="DCE5E2"/>
                </a:solidFill>
                <a:latin typeface="IBM Plex Sans" pitchFamily="34" charset="0"/>
                <a:ea typeface="IBM Plex Sans" pitchFamily="34" charset="-122"/>
                <a:cs typeface="IBM Plex Sans" pitchFamily="34" charset="-120"/>
              </a:rPr>
              <a:t>Progress continues quietly: in 1989 Yann LeCun’s CNN reads handwritten ZIP codes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4"/>
        </a:solidFill>
      </p:bgPr>
    </p:bg>
    <p:spTree>
      <p:nvGrpSpPr>
        <p:cNvPr id="1" name=""/>
        <p:cNvGrpSpPr/>
        <p:nvPr/>
      </p:nvGrpSpPr>
      <p:grpSpPr>
        <a:xfrm>
          <a:off x="0" y="0"/>
          <a:ext cx="0" cy="0"/>
          <a:chOff x="0" y="0"/>
          <a:chExt cx="0" cy="0"/>
        </a:xfrm>
      </p:grpSpPr>
      <p:sp>
        <p:nvSpPr>
          <p:cNvPr id="2" name="Text 0"/>
          <p:cNvSpPr/>
          <p:nvPr/>
        </p:nvSpPr>
        <p:spPr>
          <a:xfrm>
            <a:off x="812780" y="812778"/>
            <a:ext cx="10883434"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5E5B"/>
                </a:solidFill>
                <a:latin typeface="IBM Plex Sans" pitchFamily="34" charset="0"/>
                <a:ea typeface="IBM Plex Sans" pitchFamily="34" charset="-122"/>
                <a:cs typeface="IBM Plex Sans" pitchFamily="34" charset="-120"/>
              </a:rPr>
              <a:t>1993 – 2011 · QUIET PROGRESS</a:t>
            </a:r>
            <a:endParaRPr lang="en-US" sz="1200" dirty="0"/>
          </a:p>
        </p:txBody>
      </p:sp>
      <p:sp>
        <p:nvSpPr>
          <p:cNvPr id="3" name="Text 1"/>
          <p:cNvSpPr/>
          <p:nvPr>
            <p:ph type="title"/>
          </p:nvPr>
        </p:nvSpPr>
        <p:spPr>
          <a:xfrm>
            <a:off x="812780" y="1102339"/>
            <a:ext cx="10883434"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D"/>
                </a:solidFill>
                <a:latin typeface="Bricolage Grotesque" pitchFamily="34" charset="0"/>
                <a:ea typeface="Bricolage Grotesque" pitchFamily="34" charset="-122"/>
                <a:cs typeface="Bricolage Grotesque" pitchFamily="34" charset="-120"/>
              </a:rPr>
              <a:t>Three ingredients come together</a:t>
            </a:r>
            <a:endParaRPr lang="en-US" sz="3600" dirty="0"/>
          </a:p>
        </p:txBody>
      </p:sp>
      <p:sp>
        <p:nvSpPr>
          <p:cNvPr id="4" name="Shape 2"/>
          <p:cNvSpPr/>
          <p:nvPr/>
        </p:nvSpPr>
        <p:spPr>
          <a:xfrm>
            <a:off x="815955" y="1887813"/>
            <a:ext cx="3380324" cy="2327692"/>
          </a:xfrm>
          <a:prstGeom prst="roundRect">
            <a:avLst>
              <a:gd name="adj" fmla="val 4228"/>
            </a:avLst>
          </a:prstGeom>
          <a:solidFill>
            <a:srgbClr val="FBFCFB"/>
          </a:solidFill>
          <a:ln w="6350">
            <a:solidFill>
              <a:srgbClr val="D2DBD8"/>
            </a:solidFill>
            <a:prstDash val="solid"/>
          </a:ln>
        </p:spPr>
        <p:txBody>
          <a:bodyPr/>
          <a:p/>
        </p:txBody>
      </p:sp>
      <p:sp>
        <p:nvSpPr>
          <p:cNvPr id="5" name="Text 3"/>
          <p:cNvSpPr/>
          <p:nvPr/>
        </p:nvSpPr>
        <p:spPr>
          <a:xfrm>
            <a:off x="1070551" y="2142409"/>
            <a:ext cx="2957267" cy="3606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E3A20"/>
                </a:solidFill>
                <a:latin typeface="Bricolage Grotesque" pitchFamily="34" charset="0"/>
                <a:ea typeface="Bricolage Grotesque" pitchFamily="34" charset="-122"/>
                <a:cs typeface="Bricolage Grotesque" pitchFamily="34" charset="-120"/>
              </a:rPr>
              <a:t>Algorithms</a:t>
            </a:r>
            <a:endParaRPr lang="en-US" sz="2200" dirty="0"/>
          </a:p>
        </p:txBody>
      </p:sp>
      <p:sp>
        <p:nvSpPr>
          <p:cNvPr id="6" name="Text 4"/>
          <p:cNvSpPr/>
          <p:nvPr/>
        </p:nvSpPr>
        <p:spPr>
          <a:xfrm>
            <a:off x="1070551" y="2579191"/>
            <a:ext cx="2957267"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1D"/>
                </a:solidFill>
                <a:latin typeface="IBM Plex Sans" pitchFamily="34" charset="0"/>
                <a:ea typeface="IBM Plex Sans" pitchFamily="34" charset="-122"/>
                <a:cs typeface="IBM Plex Sans" pitchFamily="34" charset="-120"/>
              </a:rPr>
              <a:t>1997 · LSTM</a:t>
            </a:r>
            <a:endParaRPr lang="en-US" sz="1200" dirty="0"/>
          </a:p>
          <a:p>
            <a:pPr algn="l" indent="0" marL="0">
              <a:lnSpc>
                <a:spcPts val="1680"/>
              </a:lnSpc>
              <a:buNone/>
            </a:pPr>
            <a:r>
              <a:rPr lang="en-US" sz="1200" dirty="0">
                <a:solidFill>
                  <a:srgbClr val="14201D"/>
                </a:solidFill>
                <a:latin typeface="IBM Plex Sans" pitchFamily="34" charset="0"/>
                <a:ea typeface="IBM Plex Sans" pitchFamily="34" charset="-122"/>
                <a:cs typeface="IBM Plex Sans" pitchFamily="34" charset="-120"/>
              </a:rPr>
              <a:t>Hochreiter and Schmidhuber give networks a memory for sequences.</a:t>
            </a:r>
            <a:endParaRPr lang="en-US" sz="1200" dirty="0"/>
          </a:p>
        </p:txBody>
      </p:sp>
      <p:sp>
        <p:nvSpPr>
          <p:cNvPr id="7" name="Text 5"/>
          <p:cNvSpPr/>
          <p:nvPr/>
        </p:nvSpPr>
        <p:spPr>
          <a:xfrm>
            <a:off x="1070551" y="3320830"/>
            <a:ext cx="2957267"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1D"/>
                </a:solidFill>
                <a:latin typeface="IBM Plex Sans" pitchFamily="34" charset="0"/>
                <a:ea typeface="IBM Plex Sans" pitchFamily="34" charset="-122"/>
                <a:cs typeface="IBM Plex Sans" pitchFamily="34" charset="-120"/>
              </a:rPr>
              <a:t>2006 · Deep belief nets</a:t>
            </a:r>
            <a:endParaRPr lang="en-US" sz="1200" dirty="0"/>
          </a:p>
          <a:p>
            <a:pPr algn="l" indent="0" marL="0">
              <a:lnSpc>
                <a:spcPts val="1680"/>
              </a:lnSpc>
              <a:buNone/>
            </a:pPr>
            <a:r>
              <a:rPr lang="en-US" sz="1200" dirty="0">
                <a:solidFill>
                  <a:srgbClr val="14201D"/>
                </a:solidFill>
                <a:latin typeface="IBM Plex Sans" pitchFamily="34" charset="0"/>
                <a:ea typeface="IBM Plex Sans" pitchFamily="34" charset="-122"/>
                <a:cs typeface="IBM Plex Sans" pitchFamily="34" charset="-120"/>
              </a:rPr>
              <a:t>Geoffrey Hinton revives the term “deep learning.”</a:t>
            </a:r>
            <a:endParaRPr lang="en-US" sz="1200" dirty="0"/>
          </a:p>
        </p:txBody>
      </p:sp>
      <p:sp>
        <p:nvSpPr>
          <p:cNvPr id="8" name="Shape 6"/>
          <p:cNvSpPr/>
          <p:nvPr/>
        </p:nvSpPr>
        <p:spPr>
          <a:xfrm>
            <a:off x="4405809" y="1887813"/>
            <a:ext cx="3380383" cy="2327692"/>
          </a:xfrm>
          <a:prstGeom prst="roundRect">
            <a:avLst>
              <a:gd name="adj" fmla="val 4228"/>
            </a:avLst>
          </a:prstGeom>
          <a:solidFill>
            <a:srgbClr val="FBFCFB"/>
          </a:solidFill>
          <a:ln w="6350">
            <a:solidFill>
              <a:srgbClr val="D2DBD8"/>
            </a:solidFill>
            <a:prstDash val="solid"/>
          </a:ln>
        </p:spPr>
        <p:txBody>
          <a:bodyPr/>
          <a:p/>
        </p:txBody>
      </p:sp>
      <p:sp>
        <p:nvSpPr>
          <p:cNvPr id="9" name="Text 7"/>
          <p:cNvSpPr/>
          <p:nvPr/>
        </p:nvSpPr>
        <p:spPr>
          <a:xfrm>
            <a:off x="4660404" y="2142409"/>
            <a:ext cx="2957328" cy="3606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E3A20"/>
                </a:solidFill>
                <a:latin typeface="Bricolage Grotesque" pitchFamily="34" charset="0"/>
                <a:ea typeface="Bricolage Grotesque" pitchFamily="34" charset="-122"/>
                <a:cs typeface="Bricolage Grotesque" pitchFamily="34" charset="-120"/>
              </a:rPr>
              <a:t>Data</a:t>
            </a:r>
            <a:endParaRPr lang="en-US" sz="2200" dirty="0"/>
          </a:p>
        </p:txBody>
      </p:sp>
      <p:sp>
        <p:nvSpPr>
          <p:cNvPr id="10" name="Text 8"/>
          <p:cNvSpPr/>
          <p:nvPr/>
        </p:nvSpPr>
        <p:spPr>
          <a:xfrm>
            <a:off x="4660404" y="2579191"/>
            <a:ext cx="2957328"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1D"/>
                </a:solidFill>
                <a:latin typeface="IBM Plex Sans" pitchFamily="34" charset="0"/>
                <a:ea typeface="IBM Plex Sans" pitchFamily="34" charset="-122"/>
                <a:cs typeface="IBM Plex Sans" pitchFamily="34" charset="-120"/>
              </a:rPr>
              <a:t>2009 · ImageNet</a:t>
            </a:r>
            <a:endParaRPr lang="en-US" sz="1200" dirty="0"/>
          </a:p>
          <a:p>
            <a:pPr algn="l" indent="0" marL="0">
              <a:lnSpc>
                <a:spcPts val="1680"/>
              </a:lnSpc>
              <a:buNone/>
            </a:pPr>
            <a:r>
              <a:rPr lang="en-US" sz="1200" dirty="0">
                <a:solidFill>
                  <a:srgbClr val="14201D"/>
                </a:solidFill>
                <a:latin typeface="IBM Plex Sans" pitchFamily="34" charset="0"/>
                <a:ea typeface="IBM Plex Sans" pitchFamily="34" charset="-122"/>
                <a:cs typeface="IBM Plex Sans" pitchFamily="34" charset="-120"/>
              </a:rPr>
              <a:t>Fei-Fei Li’s dataset grows to over 14 million labeled images.</a:t>
            </a:r>
            <a:endParaRPr lang="en-US" sz="1200" dirty="0"/>
          </a:p>
        </p:txBody>
      </p:sp>
      <p:sp>
        <p:nvSpPr>
          <p:cNvPr id="11" name="Text 9"/>
          <p:cNvSpPr/>
          <p:nvPr/>
        </p:nvSpPr>
        <p:spPr>
          <a:xfrm>
            <a:off x="4660404" y="3320830"/>
            <a:ext cx="2957328"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1D"/>
                </a:solidFill>
                <a:latin typeface="IBM Plex Sans" pitchFamily="34" charset="0"/>
                <a:ea typeface="IBM Plex Sans" pitchFamily="34" charset="-122"/>
                <a:cs typeface="IBM Plex Sans" pitchFamily="34" charset="-120"/>
              </a:rPr>
              <a:t>The internet</a:t>
            </a:r>
            <a:endParaRPr lang="en-US" sz="1200" dirty="0"/>
          </a:p>
          <a:p>
            <a:pPr algn="l" indent="0" marL="0">
              <a:lnSpc>
                <a:spcPts val="1680"/>
              </a:lnSpc>
              <a:buNone/>
            </a:pPr>
            <a:r>
              <a:rPr lang="en-US" sz="1200" dirty="0">
                <a:solidFill>
                  <a:srgbClr val="14201D"/>
                </a:solidFill>
                <a:latin typeface="IBM Plex Sans" pitchFamily="34" charset="0"/>
                <a:ea typeface="IBM Plex Sans" pitchFamily="34" charset="-122"/>
                <a:cs typeface="IBM Plex Sans" pitchFamily="34" charset="-120"/>
              </a:rPr>
              <a:t>Billions of web pages and photos make training data abundant.</a:t>
            </a:r>
            <a:endParaRPr lang="en-US" sz="1200" dirty="0"/>
          </a:p>
        </p:txBody>
      </p:sp>
      <p:sp>
        <p:nvSpPr>
          <p:cNvPr id="12" name="Shape 10"/>
          <p:cNvSpPr/>
          <p:nvPr/>
        </p:nvSpPr>
        <p:spPr>
          <a:xfrm>
            <a:off x="7995722" y="1887813"/>
            <a:ext cx="3380324" cy="2327692"/>
          </a:xfrm>
          <a:prstGeom prst="roundRect">
            <a:avLst>
              <a:gd name="adj" fmla="val 4228"/>
            </a:avLst>
          </a:prstGeom>
          <a:solidFill>
            <a:srgbClr val="FBFCFB"/>
          </a:solidFill>
          <a:ln w="6350">
            <a:solidFill>
              <a:srgbClr val="D2DBD8"/>
            </a:solidFill>
            <a:prstDash val="solid"/>
          </a:ln>
        </p:spPr>
        <p:txBody>
          <a:bodyPr/>
          <a:p/>
        </p:txBody>
      </p:sp>
      <p:sp>
        <p:nvSpPr>
          <p:cNvPr id="13" name="Text 11"/>
          <p:cNvSpPr/>
          <p:nvPr/>
        </p:nvSpPr>
        <p:spPr>
          <a:xfrm>
            <a:off x="8250317" y="2142409"/>
            <a:ext cx="2957267" cy="3606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E3A20"/>
                </a:solidFill>
                <a:latin typeface="Bricolage Grotesque" pitchFamily="34" charset="0"/>
                <a:ea typeface="Bricolage Grotesque" pitchFamily="34" charset="-122"/>
                <a:cs typeface="Bricolage Grotesque" pitchFamily="34" charset="-120"/>
              </a:rPr>
              <a:t>Compute</a:t>
            </a:r>
            <a:endParaRPr lang="en-US" sz="2200" dirty="0"/>
          </a:p>
        </p:txBody>
      </p:sp>
      <p:sp>
        <p:nvSpPr>
          <p:cNvPr id="14" name="Text 12"/>
          <p:cNvSpPr/>
          <p:nvPr/>
        </p:nvSpPr>
        <p:spPr>
          <a:xfrm>
            <a:off x="8250317" y="2579191"/>
            <a:ext cx="2957267"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1D"/>
                </a:solidFill>
                <a:latin typeface="IBM Plex Sans" pitchFamily="34" charset="0"/>
                <a:ea typeface="IBM Plex Sans" pitchFamily="34" charset="-122"/>
                <a:cs typeface="IBM Plex Sans" pitchFamily="34" charset="-120"/>
              </a:rPr>
              <a:t>2006 · Amazon Web Services</a:t>
            </a:r>
            <a:endParaRPr lang="en-US" sz="1200" dirty="0"/>
          </a:p>
          <a:p>
            <a:pPr algn="l" indent="0" marL="0">
              <a:lnSpc>
                <a:spcPts val="1680"/>
              </a:lnSpc>
              <a:buNone/>
            </a:pPr>
            <a:r>
              <a:rPr lang="en-US" sz="1200" dirty="0">
                <a:solidFill>
                  <a:srgbClr val="14201D"/>
                </a:solidFill>
                <a:latin typeface="IBM Plex Sans" pitchFamily="34" charset="0"/>
                <a:ea typeface="IBM Plex Sans" pitchFamily="34" charset="-122"/>
                <a:cs typeface="IBM Plex Sans" pitchFamily="34" charset="-120"/>
              </a:rPr>
              <a:t>Cloud computing power can be rented by the hour.</a:t>
            </a:r>
            <a:endParaRPr lang="en-US" sz="1200" dirty="0"/>
          </a:p>
        </p:txBody>
      </p:sp>
      <p:sp>
        <p:nvSpPr>
          <p:cNvPr id="15" name="Text 13"/>
          <p:cNvSpPr/>
          <p:nvPr/>
        </p:nvSpPr>
        <p:spPr>
          <a:xfrm>
            <a:off x="8250317" y="3320830"/>
            <a:ext cx="2957267"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1D"/>
                </a:solidFill>
                <a:latin typeface="IBM Plex Sans" pitchFamily="34" charset="0"/>
                <a:ea typeface="IBM Plex Sans" pitchFamily="34" charset="-122"/>
                <a:cs typeface="IBM Plex Sans" pitchFamily="34" charset="-120"/>
              </a:rPr>
              <a:t>2007 · NVIDIA CUDA</a:t>
            </a:r>
            <a:endParaRPr lang="en-US" sz="1200" dirty="0"/>
          </a:p>
          <a:p>
            <a:pPr algn="l" indent="0" marL="0">
              <a:lnSpc>
                <a:spcPts val="1680"/>
              </a:lnSpc>
              <a:buNone/>
            </a:pPr>
            <a:r>
              <a:rPr lang="en-US" sz="1200" dirty="0">
                <a:solidFill>
                  <a:srgbClr val="14201D"/>
                </a:solidFill>
                <a:latin typeface="IBM Plex Sans" pitchFamily="34" charset="0"/>
                <a:ea typeface="IBM Plex Sans" pitchFamily="34" charset="-122"/>
                <a:cs typeface="IBM Plex Sans" pitchFamily="34" charset="-120"/>
              </a:rPr>
              <a:t>Gaming GPUs become engines for parallel math.</a:t>
            </a:r>
            <a:endParaRPr lang="en-US" sz="1200" dirty="0"/>
          </a:p>
        </p:txBody>
      </p:sp>
      <p:sp>
        <p:nvSpPr>
          <p:cNvPr id="16" name="Text 14"/>
          <p:cNvSpPr/>
          <p:nvPr/>
        </p:nvSpPr>
        <p:spPr>
          <a:xfrm>
            <a:off x="812780" y="5476339"/>
            <a:ext cx="10883434" cy="59428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01D"/>
                </a:solidFill>
                <a:latin typeface="IBM Plex Sans" pitchFamily="34" charset="0"/>
                <a:ea typeface="IBM Plex Sans" pitchFamily="34" charset="-122"/>
                <a:cs typeface="IBM Plex Sans" pitchFamily="34" charset="-120"/>
              </a:rPr>
              <a:t>Headlines of the era:</a:t>
            </a:r>
            <a:r>
              <a:rPr lang="en-US" sz="1600" dirty="0">
                <a:solidFill>
                  <a:srgbClr val="4F5E5B"/>
                </a:solidFill>
                <a:latin typeface="IBM Plex Sans" pitchFamily="34" charset="0"/>
                <a:ea typeface="IBM Plex Sans" pitchFamily="34" charset="-122"/>
                <a:cs typeface="IBM Plex Sans" pitchFamily="34" charset="-120"/>
              </a:rPr>
              <a:t> IBM’s Deep Blue beats Kasparov (1997). Watson wins </a:t>
            </a:r>
            <a:r>
              <a:rPr lang="en-US" sz="1600" i="1" dirty="0">
                <a:solidFill>
                  <a:srgbClr val="4F5E5B"/>
                </a:solidFill>
                <a:latin typeface="IBM Plex Sans" pitchFamily="34" charset="0"/>
                <a:ea typeface="IBM Plex Sans" pitchFamily="34" charset="-122"/>
                <a:cs typeface="IBM Plex Sans" pitchFamily="34" charset="-120"/>
              </a:rPr>
              <a:t>Jeopardy!</a:t>
            </a:r>
            <a:r>
              <a:rPr lang="en-US" sz="1600" dirty="0">
                <a:solidFill>
                  <a:srgbClr val="4F5E5B"/>
                </a:solidFill>
                <a:latin typeface="IBM Plex Sans" pitchFamily="34" charset="0"/>
                <a:ea typeface="IBM Plex Sans" pitchFamily="34" charset="-122"/>
                <a:cs typeface="IBM Plex Sans" pitchFamily="34" charset="-120"/>
              </a:rPr>
              <a:t> and Apple launches Siri (2011).</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BE3A20"/>
        </a:solidFill>
      </p:bgPr>
    </p:bg>
    <p:spTree>
      <p:nvGrpSpPr>
        <p:cNvPr id="1" name=""/>
        <p:cNvGrpSpPr/>
        <p:nvPr/>
      </p:nvGrpSpPr>
      <p:grpSpPr>
        <a:xfrm>
          <a:off x="0" y="0"/>
          <a:ext cx="0" cy="0"/>
          <a:chOff x="0" y="0"/>
          <a:chExt cx="0" cy="0"/>
        </a:xfrm>
      </p:grpSpPr>
      <p:sp>
        <p:nvSpPr>
          <p:cNvPr id="2" name="Text 0"/>
          <p:cNvSpPr/>
          <p:nvPr/>
        </p:nvSpPr>
        <p:spPr>
          <a:xfrm>
            <a:off x="812780" y="812778"/>
            <a:ext cx="10883434"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BF1E6"/>
                </a:solidFill>
                <a:latin typeface="IBM Plex Sans" pitchFamily="34" charset="0"/>
                <a:ea typeface="IBM Plex Sans" pitchFamily="34" charset="-122"/>
                <a:cs typeface="IBM Plex Sans" pitchFamily="34" charset="-120"/>
              </a:rPr>
              <a:t>2012 · THE TURNING POINT</a:t>
            </a:r>
            <a:endParaRPr lang="en-US" sz="1200" dirty="0"/>
          </a:p>
        </p:txBody>
      </p:sp>
      <p:sp>
        <p:nvSpPr>
          <p:cNvPr id="3" name="Text 1"/>
          <p:cNvSpPr/>
          <p:nvPr>
            <p:ph type="title"/>
          </p:nvPr>
        </p:nvSpPr>
        <p:spPr>
          <a:xfrm>
            <a:off x="812780" y="1178539"/>
            <a:ext cx="10883434" cy="16256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FBF1E6"/>
                </a:solidFill>
                <a:latin typeface="Bricolage Grotesque" pitchFamily="34" charset="0"/>
                <a:ea typeface="Bricolage Grotesque" pitchFamily="34" charset="-122"/>
                <a:cs typeface="Bricolage Grotesque" pitchFamily="34" charset="-120"/>
              </a:rPr>
              <a:t>Hardware finally caught up with theory</a:t>
            </a:r>
            <a:endParaRPr lang="en-US" sz="6000" dirty="0"/>
          </a:p>
        </p:txBody>
      </p:sp>
      <p:sp>
        <p:nvSpPr>
          <p:cNvPr id="4" name="Text 2"/>
          <p:cNvSpPr/>
          <p:nvPr/>
        </p:nvSpPr>
        <p:spPr>
          <a:xfrm>
            <a:off x="812780" y="3515438"/>
            <a:ext cx="2681764" cy="91438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FBF1E6"/>
                </a:solidFill>
                <a:latin typeface="Bricolage Grotesque" pitchFamily="34" charset="0"/>
                <a:ea typeface="Bricolage Grotesque" pitchFamily="34" charset="-122"/>
                <a:cs typeface="Bricolage Grotesque" pitchFamily="34" charset="-120"/>
              </a:rPr>
              <a:t>≈15%</a:t>
            </a:r>
            <a:endParaRPr lang="en-US" sz="7000" dirty="0"/>
          </a:p>
        </p:txBody>
      </p:sp>
      <p:sp>
        <p:nvSpPr>
          <p:cNvPr id="5" name="Text 3"/>
          <p:cNvSpPr/>
          <p:nvPr/>
        </p:nvSpPr>
        <p:spPr>
          <a:xfrm>
            <a:off x="812780" y="4455198"/>
            <a:ext cx="2301847" cy="309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BF1E6"/>
                </a:solidFill>
                <a:latin typeface="IBM Plex Sans" pitchFamily="34" charset="0"/>
                <a:ea typeface="IBM Plex Sans" pitchFamily="34" charset="-122"/>
                <a:cs typeface="IBM Plex Sans" pitchFamily="34" charset="-120"/>
              </a:rPr>
              <a:t>AlexNet’s top-5 error</a:t>
            </a:r>
            <a:endParaRPr lang="en-US" sz="1600" dirty="0"/>
          </a:p>
        </p:txBody>
      </p:sp>
      <p:sp>
        <p:nvSpPr>
          <p:cNvPr id="6" name="Text 4"/>
          <p:cNvSpPr/>
          <p:nvPr/>
        </p:nvSpPr>
        <p:spPr>
          <a:xfrm>
            <a:off x="3657183" y="3515438"/>
            <a:ext cx="2416302" cy="91438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F3C9B8"/>
                </a:solidFill>
                <a:latin typeface="Bricolage Grotesque" pitchFamily="34" charset="0"/>
                <a:ea typeface="Bricolage Grotesque" pitchFamily="34" charset="-122"/>
                <a:cs typeface="Bricolage Grotesque" pitchFamily="34" charset="-120"/>
              </a:rPr>
              <a:t>26%</a:t>
            </a:r>
            <a:endParaRPr lang="en-US" sz="7000" dirty="0"/>
          </a:p>
        </p:txBody>
      </p:sp>
      <p:sp>
        <p:nvSpPr>
          <p:cNvPr id="7" name="Text 5"/>
          <p:cNvSpPr/>
          <p:nvPr/>
        </p:nvSpPr>
        <p:spPr>
          <a:xfrm>
            <a:off x="3657183" y="4455198"/>
            <a:ext cx="2073993" cy="309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C9B8"/>
                </a:solidFill>
                <a:latin typeface="IBM Plex Sans" pitchFamily="34" charset="0"/>
                <a:ea typeface="IBM Plex Sans" pitchFamily="34" charset="-122"/>
                <a:cs typeface="IBM Plex Sans" pitchFamily="34" charset="-120"/>
              </a:rPr>
              <a:t>Next-best entry</a:t>
            </a:r>
            <a:endParaRPr lang="en-US" sz="1600" dirty="0"/>
          </a:p>
        </p:txBody>
      </p:sp>
      <p:sp>
        <p:nvSpPr>
          <p:cNvPr id="8" name="Text 6"/>
          <p:cNvSpPr/>
          <p:nvPr/>
        </p:nvSpPr>
        <p:spPr>
          <a:xfrm>
            <a:off x="812780" y="5476339"/>
            <a:ext cx="10883434" cy="5942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BF1E6"/>
                </a:solidFill>
                <a:latin typeface="IBM Plex Sans" pitchFamily="34" charset="0"/>
                <a:ea typeface="IBM Plex Sans" pitchFamily="34" charset="-122"/>
                <a:cs typeface="IBM Plex Sans" pitchFamily="34" charset="-120"/>
              </a:rPr>
              <a:t>Alex Krizhevsky, Ilya Sutskever and Geoffrey Hinton trained AlexNet on two NVIDIA gaming GPUs and won the ImageNet challenge by a landslide.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4"/>
        </a:solidFill>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E3A20"/>
                </a:solidFill>
                <a:latin typeface="IBM Plex Sans" pitchFamily="34" charset="0"/>
                <a:ea typeface="IBM Plex Sans" pitchFamily="34" charset="-122"/>
                <a:cs typeface="IBM Plex Sans" pitchFamily="34" charset="-120"/>
              </a:rPr>
              <a:t>2014 – 2021 · DEEP LEARNING REVOLUTION</a:t>
            </a:r>
            <a:endParaRPr lang="en-US" sz="1200" dirty="0"/>
          </a:p>
        </p:txBody>
      </p:sp>
      <p:sp>
        <p:nvSpPr>
          <p:cNvPr id="3" name="Text 1"/>
          <p:cNvSpPr/>
          <p:nvPr>
            <p:ph type="title"/>
          </p:nvPr>
        </p:nvSpPr>
        <p:spPr>
          <a:xfrm>
            <a:off x="812780" y="1102345"/>
            <a:ext cx="10883434"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D"/>
                </a:solidFill>
                <a:latin typeface="Bricolage Grotesque" pitchFamily="34" charset="0"/>
                <a:ea typeface="Bricolage Grotesque" pitchFamily="34" charset="-122"/>
                <a:cs typeface="Bricolage Grotesque" pitchFamily="34" charset="-120"/>
              </a:rPr>
              <a:t>Deep learning takes over</a:t>
            </a:r>
            <a:endParaRPr lang="en-US" sz="3600" dirty="0"/>
          </a:p>
        </p:txBody>
      </p:sp>
      <p:sp>
        <p:nvSpPr>
          <p:cNvPr id="4" name="Shape 2"/>
          <p:cNvSpPr/>
          <p:nvPr/>
        </p:nvSpPr>
        <p:spPr>
          <a:xfrm>
            <a:off x="815955" y="1913235"/>
            <a:ext cx="1984970" cy="2048371"/>
          </a:xfrm>
          <a:prstGeom prst="roundRect">
            <a:avLst>
              <a:gd name="adj" fmla="val 3679"/>
            </a:avLst>
          </a:prstGeom>
          <a:solidFill>
            <a:srgbClr val="FBFCFB"/>
          </a:solidFill>
          <a:ln w="6350">
            <a:solidFill>
              <a:srgbClr val="D2DBD8"/>
            </a:solidFill>
            <a:prstDash val="solid"/>
          </a:ln>
        </p:spPr>
        <p:txBody>
          <a:bodyPr/>
          <a:p/>
        </p:txBody>
      </p:sp>
      <p:sp>
        <p:nvSpPr>
          <p:cNvPr id="5" name="Text 3"/>
          <p:cNvSpPr/>
          <p:nvPr/>
        </p:nvSpPr>
        <p:spPr>
          <a:xfrm>
            <a:off x="1019770" y="2117055"/>
            <a:ext cx="162814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E3A20"/>
                </a:solidFill>
                <a:latin typeface="Bricolage Grotesque" pitchFamily="34" charset="0"/>
                <a:ea typeface="Bricolage Grotesque" pitchFamily="34" charset="-122"/>
                <a:cs typeface="Bricolage Grotesque" pitchFamily="34" charset="-120"/>
              </a:rPr>
              <a:t>2014</a:t>
            </a:r>
            <a:endParaRPr lang="en-US" sz="2200" dirty="0"/>
          </a:p>
        </p:txBody>
      </p:sp>
      <p:sp>
        <p:nvSpPr>
          <p:cNvPr id="6" name="Text 4"/>
          <p:cNvSpPr/>
          <p:nvPr/>
        </p:nvSpPr>
        <p:spPr>
          <a:xfrm>
            <a:off x="1019770" y="2584376"/>
            <a:ext cx="16281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D"/>
                </a:solidFill>
                <a:latin typeface="IBM Plex Sans" pitchFamily="34" charset="0"/>
                <a:ea typeface="IBM Plex Sans" pitchFamily="34" charset="-122"/>
                <a:cs typeface="IBM Plex Sans" pitchFamily="34" charset="-120"/>
              </a:rPr>
              <a:t>GANs</a:t>
            </a:r>
            <a:endParaRPr lang="en-US" sz="1600" dirty="0"/>
          </a:p>
        </p:txBody>
      </p:sp>
      <p:sp>
        <p:nvSpPr>
          <p:cNvPr id="7" name="Text 5"/>
          <p:cNvSpPr/>
          <p:nvPr/>
        </p:nvSpPr>
        <p:spPr>
          <a:xfrm>
            <a:off x="1019770" y="2904356"/>
            <a:ext cx="162814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E5B"/>
                </a:solidFill>
                <a:latin typeface="IBM Plex Sans" pitchFamily="34" charset="0"/>
                <a:ea typeface="IBM Plex Sans" pitchFamily="34" charset="-122"/>
                <a:cs typeface="IBM Plex Sans" pitchFamily="34" charset="-120"/>
              </a:rPr>
              <a:t>Ian Goodfellow’s two competing networks generate realistic images.</a:t>
            </a:r>
            <a:endParaRPr lang="en-US" sz="1200" dirty="0"/>
          </a:p>
        </p:txBody>
      </p:sp>
      <p:sp>
        <p:nvSpPr>
          <p:cNvPr id="8" name="Shape 6"/>
          <p:cNvSpPr/>
          <p:nvPr/>
        </p:nvSpPr>
        <p:spPr>
          <a:xfrm>
            <a:off x="2959676" y="1913235"/>
            <a:ext cx="1985030" cy="2048371"/>
          </a:xfrm>
          <a:prstGeom prst="roundRect">
            <a:avLst>
              <a:gd name="adj" fmla="val 3679"/>
            </a:avLst>
          </a:prstGeom>
          <a:solidFill>
            <a:srgbClr val="FBFCFB"/>
          </a:solidFill>
          <a:ln w="6350">
            <a:solidFill>
              <a:srgbClr val="D2DBD8"/>
            </a:solidFill>
            <a:prstDash val="solid"/>
          </a:ln>
        </p:spPr>
        <p:txBody>
          <a:bodyPr/>
          <a:p/>
        </p:txBody>
      </p:sp>
      <p:sp>
        <p:nvSpPr>
          <p:cNvPr id="9" name="Text 7"/>
          <p:cNvSpPr/>
          <p:nvPr/>
        </p:nvSpPr>
        <p:spPr>
          <a:xfrm>
            <a:off x="3163491" y="2117055"/>
            <a:ext cx="1628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E3A20"/>
                </a:solidFill>
                <a:latin typeface="Bricolage Grotesque" pitchFamily="34" charset="0"/>
                <a:ea typeface="Bricolage Grotesque" pitchFamily="34" charset="-122"/>
                <a:cs typeface="Bricolage Grotesque" pitchFamily="34" charset="-120"/>
              </a:rPr>
              <a:t>2015</a:t>
            </a:r>
            <a:endParaRPr lang="en-US" sz="2200" dirty="0"/>
          </a:p>
        </p:txBody>
      </p:sp>
      <p:sp>
        <p:nvSpPr>
          <p:cNvPr id="10" name="Text 8"/>
          <p:cNvSpPr/>
          <p:nvPr/>
        </p:nvSpPr>
        <p:spPr>
          <a:xfrm>
            <a:off x="3163491" y="2584376"/>
            <a:ext cx="16282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D"/>
                </a:solidFill>
                <a:latin typeface="IBM Plex Sans" pitchFamily="34" charset="0"/>
                <a:ea typeface="IBM Plex Sans" pitchFamily="34" charset="-122"/>
                <a:cs typeface="IBM Plex Sans" pitchFamily="34" charset="-120"/>
              </a:rPr>
              <a:t>OpenAI</a:t>
            </a:r>
            <a:endParaRPr lang="en-US" sz="1600" dirty="0"/>
          </a:p>
        </p:txBody>
      </p:sp>
      <p:sp>
        <p:nvSpPr>
          <p:cNvPr id="11" name="Text 9"/>
          <p:cNvSpPr/>
          <p:nvPr/>
        </p:nvSpPr>
        <p:spPr>
          <a:xfrm>
            <a:off x="3163491" y="2904356"/>
            <a:ext cx="16282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E5B"/>
                </a:solidFill>
                <a:latin typeface="IBM Plex Sans" pitchFamily="34" charset="0"/>
                <a:ea typeface="IBM Plex Sans" pitchFamily="34" charset="-122"/>
                <a:cs typeface="IBM Plex Sans" pitchFamily="34" charset="-120"/>
              </a:rPr>
              <a:t>Founded as a nonprofit lab with $1 billion pledged.</a:t>
            </a:r>
            <a:endParaRPr lang="en-US" sz="1200" dirty="0"/>
          </a:p>
        </p:txBody>
      </p:sp>
      <p:sp>
        <p:nvSpPr>
          <p:cNvPr id="12" name="Shape 10"/>
          <p:cNvSpPr/>
          <p:nvPr/>
        </p:nvSpPr>
        <p:spPr>
          <a:xfrm>
            <a:off x="5103456" y="1913235"/>
            <a:ext cx="1985030" cy="2048371"/>
          </a:xfrm>
          <a:prstGeom prst="roundRect">
            <a:avLst>
              <a:gd name="adj" fmla="val 3679"/>
            </a:avLst>
          </a:prstGeom>
          <a:solidFill>
            <a:srgbClr val="FBFCFB"/>
          </a:solidFill>
          <a:ln w="6350">
            <a:solidFill>
              <a:srgbClr val="D2DBD8"/>
            </a:solidFill>
            <a:prstDash val="solid"/>
          </a:ln>
        </p:spPr>
        <p:txBody>
          <a:bodyPr/>
          <a:p/>
        </p:txBody>
      </p:sp>
      <p:sp>
        <p:nvSpPr>
          <p:cNvPr id="13" name="Text 11"/>
          <p:cNvSpPr/>
          <p:nvPr/>
        </p:nvSpPr>
        <p:spPr>
          <a:xfrm>
            <a:off x="5307271" y="2117055"/>
            <a:ext cx="1628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E3A20"/>
                </a:solidFill>
                <a:latin typeface="Bricolage Grotesque" pitchFamily="34" charset="0"/>
                <a:ea typeface="Bricolage Grotesque" pitchFamily="34" charset="-122"/>
                <a:cs typeface="Bricolage Grotesque" pitchFamily="34" charset="-120"/>
              </a:rPr>
              <a:t>2016</a:t>
            </a:r>
            <a:endParaRPr lang="en-US" sz="2200" dirty="0"/>
          </a:p>
        </p:txBody>
      </p:sp>
      <p:sp>
        <p:nvSpPr>
          <p:cNvPr id="14" name="Text 12"/>
          <p:cNvSpPr/>
          <p:nvPr/>
        </p:nvSpPr>
        <p:spPr>
          <a:xfrm>
            <a:off x="5307271" y="2584376"/>
            <a:ext cx="16282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D"/>
                </a:solidFill>
                <a:latin typeface="IBM Plex Sans" pitchFamily="34" charset="0"/>
                <a:ea typeface="IBM Plex Sans" pitchFamily="34" charset="-122"/>
                <a:cs typeface="IBM Plex Sans" pitchFamily="34" charset="-120"/>
              </a:rPr>
              <a:t>AlphaGo</a:t>
            </a:r>
            <a:endParaRPr lang="en-US" sz="1600" dirty="0"/>
          </a:p>
        </p:txBody>
      </p:sp>
      <p:sp>
        <p:nvSpPr>
          <p:cNvPr id="15" name="Text 13"/>
          <p:cNvSpPr/>
          <p:nvPr/>
        </p:nvSpPr>
        <p:spPr>
          <a:xfrm>
            <a:off x="5307271" y="2904356"/>
            <a:ext cx="16282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E5B"/>
                </a:solidFill>
                <a:latin typeface="IBM Plex Sans" pitchFamily="34" charset="0"/>
                <a:ea typeface="IBM Plex Sans" pitchFamily="34" charset="-122"/>
                <a:cs typeface="IBM Plex Sans" pitchFamily="34" charset="-120"/>
              </a:rPr>
              <a:t>DeepMind beats Go champion Lee Sedol 4–1.</a:t>
            </a:r>
            <a:endParaRPr lang="en-US" sz="1200" dirty="0"/>
          </a:p>
        </p:txBody>
      </p:sp>
      <p:sp>
        <p:nvSpPr>
          <p:cNvPr id="16" name="Shape 14"/>
          <p:cNvSpPr/>
          <p:nvPr/>
        </p:nvSpPr>
        <p:spPr>
          <a:xfrm>
            <a:off x="7247235" y="1913235"/>
            <a:ext cx="1985030" cy="2048371"/>
          </a:xfrm>
          <a:prstGeom prst="roundRect">
            <a:avLst>
              <a:gd name="adj" fmla="val 3679"/>
            </a:avLst>
          </a:prstGeom>
          <a:solidFill>
            <a:srgbClr val="FBFCFB"/>
          </a:solidFill>
          <a:ln w="6350">
            <a:solidFill>
              <a:srgbClr val="D2DBD8"/>
            </a:solidFill>
            <a:prstDash val="solid"/>
          </a:ln>
        </p:spPr>
        <p:txBody>
          <a:bodyPr/>
          <a:p/>
        </p:txBody>
      </p:sp>
      <p:sp>
        <p:nvSpPr>
          <p:cNvPr id="17" name="Text 15"/>
          <p:cNvSpPr/>
          <p:nvPr/>
        </p:nvSpPr>
        <p:spPr>
          <a:xfrm>
            <a:off x="7451051" y="2117055"/>
            <a:ext cx="1628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E3A20"/>
                </a:solidFill>
                <a:latin typeface="Bricolage Grotesque" pitchFamily="34" charset="0"/>
                <a:ea typeface="Bricolage Grotesque" pitchFamily="34" charset="-122"/>
                <a:cs typeface="Bricolage Grotesque" pitchFamily="34" charset="-120"/>
              </a:rPr>
              <a:t>2017</a:t>
            </a:r>
            <a:endParaRPr lang="en-US" sz="2200" dirty="0"/>
          </a:p>
        </p:txBody>
      </p:sp>
      <p:sp>
        <p:nvSpPr>
          <p:cNvPr id="18" name="Text 16"/>
          <p:cNvSpPr/>
          <p:nvPr/>
        </p:nvSpPr>
        <p:spPr>
          <a:xfrm>
            <a:off x="7451051" y="2584376"/>
            <a:ext cx="16282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D"/>
                </a:solidFill>
                <a:latin typeface="IBM Plex Sans" pitchFamily="34" charset="0"/>
                <a:ea typeface="IBM Plex Sans" pitchFamily="34" charset="-122"/>
                <a:cs typeface="IBM Plex Sans" pitchFamily="34" charset="-120"/>
              </a:rPr>
              <a:t>Transformer</a:t>
            </a:r>
            <a:endParaRPr lang="en-US" sz="1600" dirty="0"/>
          </a:p>
        </p:txBody>
      </p:sp>
      <p:sp>
        <p:nvSpPr>
          <p:cNvPr id="19" name="Text 17"/>
          <p:cNvSpPr/>
          <p:nvPr/>
        </p:nvSpPr>
        <p:spPr>
          <a:xfrm>
            <a:off x="7451051" y="2904356"/>
            <a:ext cx="162820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E5B"/>
                </a:solidFill>
                <a:latin typeface="IBM Plex Sans" pitchFamily="34" charset="0"/>
                <a:ea typeface="IBM Plex Sans" pitchFamily="34" charset="-122"/>
                <a:cs typeface="IBM Plex Sans" pitchFamily="34" charset="-120"/>
              </a:rPr>
              <a:t>Google’s “Attention Is All You Need” becomes the “T” in GPT.</a:t>
            </a:r>
            <a:endParaRPr lang="en-US" sz="1200" dirty="0"/>
          </a:p>
        </p:txBody>
      </p:sp>
      <p:sp>
        <p:nvSpPr>
          <p:cNvPr id="20" name="Shape 18"/>
          <p:cNvSpPr/>
          <p:nvPr/>
        </p:nvSpPr>
        <p:spPr>
          <a:xfrm>
            <a:off x="9391015" y="1913235"/>
            <a:ext cx="1985030" cy="2048371"/>
          </a:xfrm>
          <a:prstGeom prst="roundRect">
            <a:avLst>
              <a:gd name="adj" fmla="val 3679"/>
            </a:avLst>
          </a:prstGeom>
          <a:solidFill>
            <a:srgbClr val="FBFCFB"/>
          </a:solidFill>
          <a:ln w="6350">
            <a:solidFill>
              <a:srgbClr val="D2DBD8"/>
            </a:solidFill>
            <a:prstDash val="solid"/>
          </a:ln>
        </p:spPr>
        <p:txBody>
          <a:bodyPr/>
          <a:p/>
        </p:txBody>
      </p:sp>
      <p:sp>
        <p:nvSpPr>
          <p:cNvPr id="21" name="Text 19"/>
          <p:cNvSpPr/>
          <p:nvPr/>
        </p:nvSpPr>
        <p:spPr>
          <a:xfrm>
            <a:off x="9594831" y="2117055"/>
            <a:ext cx="1628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E3A20"/>
                </a:solidFill>
                <a:latin typeface="Bricolage Grotesque" pitchFamily="34" charset="0"/>
                <a:ea typeface="Bricolage Grotesque" pitchFamily="34" charset="-122"/>
                <a:cs typeface="Bricolage Grotesque" pitchFamily="34" charset="-120"/>
              </a:rPr>
              <a:t>2020</a:t>
            </a:r>
            <a:endParaRPr lang="en-US" sz="2200" dirty="0"/>
          </a:p>
        </p:txBody>
      </p:sp>
      <p:sp>
        <p:nvSpPr>
          <p:cNvPr id="22" name="Text 20"/>
          <p:cNvSpPr/>
          <p:nvPr/>
        </p:nvSpPr>
        <p:spPr>
          <a:xfrm>
            <a:off x="9594831" y="2584376"/>
            <a:ext cx="16282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D"/>
                </a:solidFill>
                <a:latin typeface="IBM Plex Sans" pitchFamily="34" charset="0"/>
                <a:ea typeface="IBM Plex Sans" pitchFamily="34" charset="-122"/>
                <a:cs typeface="IBM Plex Sans" pitchFamily="34" charset="-120"/>
              </a:rPr>
              <a:t>GPT-3</a:t>
            </a:r>
            <a:endParaRPr lang="en-US" sz="1600" dirty="0"/>
          </a:p>
        </p:txBody>
      </p:sp>
      <p:sp>
        <p:nvSpPr>
          <p:cNvPr id="23" name="Text 21"/>
          <p:cNvSpPr/>
          <p:nvPr/>
        </p:nvSpPr>
        <p:spPr>
          <a:xfrm>
            <a:off x="9594831" y="2904356"/>
            <a:ext cx="162820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E5B"/>
                </a:solidFill>
                <a:latin typeface="IBM Plex Sans" pitchFamily="34" charset="0"/>
                <a:ea typeface="IBM Plex Sans" pitchFamily="34" charset="-122"/>
                <a:cs typeface="IBM Plex Sans" pitchFamily="34" charset="-120"/>
              </a:rPr>
              <a:t>175 billion parameters. AlphaFold 2 predicts protein shapes.</a:t>
            </a:r>
            <a:endParaRPr lang="en-US" sz="1200" dirty="0"/>
          </a:p>
        </p:txBody>
      </p:sp>
      <p:sp>
        <p:nvSpPr>
          <p:cNvPr id="24" name="Text 22"/>
          <p:cNvSpPr/>
          <p:nvPr/>
        </p:nvSpPr>
        <p:spPr>
          <a:xfrm>
            <a:off x="812780" y="5760783"/>
            <a:ext cx="10883434" cy="30984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01D"/>
                </a:solidFill>
                <a:latin typeface="IBM Plex Sans" pitchFamily="34" charset="0"/>
                <a:ea typeface="IBM Plex Sans" pitchFamily="34" charset="-122"/>
                <a:cs typeface="IBM Plex Sans" pitchFamily="34" charset="-120"/>
              </a:rPr>
              <a:t>2018:</a:t>
            </a:r>
            <a:r>
              <a:rPr lang="en-US" sz="1600" dirty="0">
                <a:solidFill>
                  <a:srgbClr val="4F5E5B"/>
                </a:solidFill>
                <a:latin typeface="IBM Plex Sans" pitchFamily="34" charset="0"/>
                <a:ea typeface="IBM Plex Sans" pitchFamily="34" charset="-122"/>
                <a:cs typeface="IBM Plex Sans" pitchFamily="34" charset="-120"/>
              </a:rPr>
              <a:t> Hinton, LeCun and Bengio win the Turing Award as the “godfathers of deep learning.”</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01D"/>
        </a:solidFill>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795B"/>
                </a:solidFill>
                <a:latin typeface="IBM Plex Sans" pitchFamily="34" charset="0"/>
                <a:ea typeface="IBM Plex Sans" pitchFamily="34" charset="-122"/>
                <a:cs typeface="IBM Plex Sans" pitchFamily="34" charset="-120"/>
              </a:rPr>
              <a:t>2022 – TODAY · GENERATIVE AI</a:t>
            </a:r>
            <a:endParaRPr lang="en-US" sz="1200" dirty="0"/>
          </a:p>
        </p:txBody>
      </p:sp>
      <p:sp>
        <p:nvSpPr>
          <p:cNvPr id="3" name="Text 1"/>
          <p:cNvSpPr/>
          <p:nvPr>
            <p:ph type="title"/>
          </p:nvPr>
        </p:nvSpPr>
        <p:spPr>
          <a:xfrm>
            <a:off x="812780" y="1102345"/>
            <a:ext cx="10883434"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5F4"/>
                </a:solidFill>
                <a:latin typeface="Bricolage Grotesque" pitchFamily="34" charset="0"/>
                <a:ea typeface="Bricolage Grotesque" pitchFamily="34" charset="-122"/>
                <a:cs typeface="Bricolage Grotesque" pitchFamily="34" charset="-120"/>
              </a:rPr>
              <a:t>Generative AI goes public</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210" y="1921490"/>
          <a:ext cx="10555010" cy="2324100"/>
        </p:xfrm>
        <a:graphic>
          <a:graphicData uri="http://schemas.openxmlformats.org/drawingml/2006/table">
            <a:tbl>
              <a:tblPr/>
              <a:tblGrid>
                <a:gridCol w="1266601"/>
                <a:gridCol w="5066405"/>
                <a:gridCol w="4222004"/>
              </a:tblGrid>
              <a:tr h="411480">
                <a:tc>
                  <a:txBody>
                    <a:bodyPr/>
                    <a:lstStyle/>
                    <a:p>
                      <a:pPr indent="0" marL="0">
                        <a:lnSpc>
                          <a:spcPts val="2100"/>
                        </a:lnSpc>
                        <a:buNone/>
                      </a:pPr>
                      <a:r>
                        <a:rPr lang="en-US" sz="1500" b="1" dirty="0">
                          <a:solidFill>
                            <a:srgbClr val="F2795B"/>
                          </a:solidFill>
                          <a:latin typeface="IBM Plex Sans" pitchFamily="34" charset="0"/>
                          <a:ea typeface="IBM Plex Sans" pitchFamily="34" charset="-122"/>
                          <a:cs typeface="IBM Plex Sans" pitchFamily="34" charset="-120"/>
                        </a:rPr>
                        <a:t>Year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04D"/>
                      </a:solidFill>
                      <a:prstDash val="solid"/>
                      <a:round/>
                      <a:headEnd type="none" w="med" len="med"/>
                      <a:tailEnd type="none" w="med" len="med"/>
                    </a:lnL>
                    <a:lnR w="12700" cap="flat" cmpd="sng" algn="ctr">
                      <a:solidFill>
                        <a:srgbClr val="525C59"/>
                      </a:solidFill>
                      <a:prstDash val="solid"/>
                      <a:round/>
                      <a:headEnd type="none" w="med" len="med"/>
                      <a:tailEnd type="none" w="med" len="med"/>
                    </a:lnR>
                    <a:lnT w="12700" cap="flat" cmpd="sng" algn="ctr">
                      <a:solidFill>
                        <a:srgbClr val="47504D"/>
                      </a:solidFill>
                      <a:prstDash val="solid"/>
                      <a:round/>
                      <a:headEnd type="none" w="med" len="med"/>
                      <a:tailEnd type="none" w="med" len="med"/>
                    </a:lnT>
                    <a:lnB w="12700" cap="flat" cmpd="sng" algn="ctr">
                      <a:solidFill>
                        <a:srgbClr val="525C59"/>
                      </a:solidFill>
                      <a:prstDash val="solid"/>
                      <a:round/>
                      <a:headEnd type="none" w="med" len="med"/>
                      <a:tailEnd type="none" w="med" len="med"/>
                    </a:lnB>
                    <a:solidFill>
                      <a:srgbClr val="22302D"/>
                    </a:solidFill>
                  </a:tcPr>
                </a:tc>
                <a:tc>
                  <a:txBody>
                    <a:bodyPr/>
                    <a:lstStyle/>
                    <a:p>
                      <a:pPr indent="0" marL="0">
                        <a:lnSpc>
                          <a:spcPts val="2100"/>
                        </a:lnSpc>
                        <a:buNone/>
                      </a:pPr>
                      <a:r>
                        <a:rPr lang="en-US" sz="1500" b="1" dirty="0">
                          <a:solidFill>
                            <a:srgbClr val="F2795B"/>
                          </a:solidFill>
                          <a:latin typeface="IBM Plex Sans" pitchFamily="34" charset="0"/>
                          <a:ea typeface="IBM Plex Sans" pitchFamily="34" charset="-122"/>
                          <a:cs typeface="IBM Plex Sans" pitchFamily="34" charset="-120"/>
                        </a:rPr>
                        <a:t>Milestone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525C59"/>
                      </a:solidFill>
                      <a:prstDash val="solid"/>
                      <a:round/>
                      <a:headEnd type="none" w="med" len="med"/>
                      <a:tailEnd type="none" w="med" len="med"/>
                    </a:lnL>
                    <a:lnR w="12700" cap="flat" cmpd="sng" algn="ctr">
                      <a:solidFill>
                        <a:srgbClr val="525C59"/>
                      </a:solidFill>
                      <a:prstDash val="solid"/>
                      <a:round/>
                      <a:headEnd type="none" w="med" len="med"/>
                      <a:tailEnd type="none" w="med" len="med"/>
                    </a:lnR>
                    <a:lnT w="12700" cap="flat" cmpd="sng" algn="ctr">
                      <a:solidFill>
                        <a:srgbClr val="47504D"/>
                      </a:solidFill>
                      <a:prstDash val="solid"/>
                      <a:round/>
                      <a:headEnd type="none" w="med" len="med"/>
                      <a:tailEnd type="none" w="med" len="med"/>
                    </a:lnT>
                    <a:lnB w="12700" cap="flat" cmpd="sng" algn="ctr">
                      <a:solidFill>
                        <a:srgbClr val="525C59"/>
                      </a:solidFill>
                      <a:prstDash val="solid"/>
                      <a:round/>
                      <a:headEnd type="none" w="med" len="med"/>
                      <a:tailEnd type="none" w="med" len="med"/>
                    </a:lnB>
                    <a:solidFill>
                      <a:srgbClr val="22302D"/>
                    </a:solidFill>
                  </a:tcPr>
                </a:tc>
                <a:tc>
                  <a:txBody>
                    <a:bodyPr/>
                    <a:lstStyle/>
                    <a:p>
                      <a:pPr indent="0" marL="0">
                        <a:lnSpc>
                          <a:spcPts val="2100"/>
                        </a:lnSpc>
                        <a:buNone/>
                      </a:pPr>
                      <a:r>
                        <a:rPr lang="en-US" sz="1500" b="1" dirty="0">
                          <a:solidFill>
                            <a:srgbClr val="F2795B"/>
                          </a:solidFill>
                          <a:latin typeface="IBM Plex Sans" pitchFamily="34" charset="0"/>
                          <a:ea typeface="IBM Plex Sans" pitchFamily="34" charset="-122"/>
                          <a:cs typeface="IBM Plex Sans" pitchFamily="34" charset="-120"/>
                        </a:rPr>
                        <a:t>Why it matters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525C59"/>
                      </a:solidFill>
                      <a:prstDash val="solid"/>
                      <a:round/>
                      <a:headEnd type="none" w="med" len="med"/>
                      <a:tailEnd type="none" w="med" len="med"/>
                    </a:lnL>
                    <a:lnR w="12700" cap="flat" cmpd="sng" algn="ctr">
                      <a:solidFill>
                        <a:srgbClr val="525C59"/>
                      </a:solidFill>
                      <a:prstDash val="solid"/>
                      <a:round/>
                      <a:headEnd type="none" w="med" len="med"/>
                      <a:tailEnd type="none" w="med" len="med"/>
                    </a:lnR>
                    <a:lnT w="12700" cap="flat" cmpd="sng" algn="ctr">
                      <a:solidFill>
                        <a:srgbClr val="47504D"/>
                      </a:solidFill>
                      <a:prstDash val="solid"/>
                      <a:round/>
                      <a:headEnd type="none" w="med" len="med"/>
                      <a:tailEnd type="none" w="med" len="med"/>
                    </a:lnT>
                    <a:lnB w="12700" cap="flat" cmpd="sng" algn="ctr">
                      <a:solidFill>
                        <a:srgbClr val="525C59"/>
                      </a:solidFill>
                      <a:prstDash val="solid"/>
                      <a:round/>
                      <a:headEnd type="none" w="med" len="med"/>
                      <a:tailEnd type="none" w="med" len="med"/>
                    </a:lnB>
                    <a:solidFill>
                      <a:srgbClr val="22302D"/>
                    </a:solidFill>
                  </a:tcPr>
                </a:tc>
              </a:tr>
              <a:tr h="411480">
                <a:tc>
                  <a:txBody>
                    <a:bodyPr/>
                    <a:lstStyle/>
                    <a:p>
                      <a:pPr indent="0" marL="0">
                        <a:lnSpc>
                          <a:spcPts val="2100"/>
                        </a:lnSpc>
                        <a:buNone/>
                      </a:pPr>
                      <a:r>
                        <a:rPr lang="en-US" sz="1500" dirty="0">
                          <a:solidFill>
                            <a:srgbClr val="F2F5F4"/>
                          </a:solidFill>
                          <a:latin typeface="IBM Plex Sans" pitchFamily="34" charset="0"/>
                          <a:ea typeface="IBM Plex Sans" pitchFamily="34" charset="-122"/>
                          <a:cs typeface="IBM Plex Sans" pitchFamily="34" charset="-120"/>
                        </a:rPr>
                        <a:t>2022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04D"/>
                      </a:solidFill>
                      <a:prstDash val="solid"/>
                      <a:round/>
                      <a:headEnd type="none" w="med" len="med"/>
                      <a:tailEnd type="none" w="med" len="med"/>
                    </a:lnL>
                    <a:lnR w="12700" cap="flat" cmpd="sng" algn="ctr">
                      <a:solidFill>
                        <a:srgbClr val="47504D"/>
                      </a:solidFill>
                      <a:prstDash val="solid"/>
                      <a:round/>
                      <a:headEnd type="none" w="med" len="med"/>
                      <a:tailEnd type="none" w="med" len="med"/>
                    </a:lnR>
                    <a:lnT w="12700" cap="flat" cmpd="sng" algn="ctr">
                      <a:solidFill>
                        <a:srgbClr val="525C59"/>
                      </a:solidFill>
                      <a:prstDash val="solid"/>
                      <a:round/>
                      <a:headEnd type="none" w="med" len="med"/>
                      <a:tailEnd type="none" w="med" len="med"/>
                    </a:lnT>
                    <a:lnB w="12700" cap="flat" cmpd="sng" algn="ctr">
                      <a:solidFill>
                        <a:srgbClr val="47504D"/>
                      </a:solidFill>
                      <a:prstDash val="solid"/>
                      <a:round/>
                      <a:headEnd type="none" w="med" len="med"/>
                      <a:tailEnd type="none" w="med" len="med"/>
                    </a:lnB>
                  </a:tcPr>
                </a:tc>
                <a:tc>
                  <a:txBody>
                    <a:bodyPr/>
                    <a:lstStyle/>
                    <a:p>
                      <a:pPr indent="0" marL="0">
                        <a:lnSpc>
                          <a:spcPts val="2100"/>
                        </a:lnSpc>
                        <a:buNone/>
                      </a:pPr>
                      <a:r>
                        <a:rPr lang="en-US" sz="1500" dirty="0">
                          <a:solidFill>
                            <a:srgbClr val="F2F5F4"/>
                          </a:solidFill>
                          <a:latin typeface="IBM Plex Sans" pitchFamily="34" charset="0"/>
                          <a:ea typeface="IBM Plex Sans" pitchFamily="34" charset="-122"/>
                          <a:cs typeface="IBM Plex Sans" pitchFamily="34" charset="-120"/>
                        </a:rPr>
                        <a:t>ChatGPT launches on November 30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04D"/>
                      </a:solidFill>
                      <a:prstDash val="solid"/>
                      <a:round/>
                      <a:headEnd type="none" w="med" len="med"/>
                      <a:tailEnd type="none" w="med" len="med"/>
                    </a:lnL>
                    <a:lnR w="12700" cap="flat" cmpd="sng" algn="ctr">
                      <a:solidFill>
                        <a:srgbClr val="47504D"/>
                      </a:solidFill>
                      <a:prstDash val="solid"/>
                      <a:round/>
                      <a:headEnd type="none" w="med" len="med"/>
                      <a:tailEnd type="none" w="med" len="med"/>
                    </a:lnR>
                    <a:lnT w="12700" cap="flat" cmpd="sng" algn="ctr">
                      <a:solidFill>
                        <a:srgbClr val="525C59"/>
                      </a:solidFill>
                      <a:prstDash val="solid"/>
                      <a:round/>
                      <a:headEnd type="none" w="med" len="med"/>
                      <a:tailEnd type="none" w="med" len="med"/>
                    </a:lnT>
                    <a:lnB w="12700" cap="flat" cmpd="sng" algn="ctr">
                      <a:solidFill>
                        <a:srgbClr val="47504D"/>
                      </a:solidFill>
                      <a:prstDash val="solid"/>
                      <a:round/>
                      <a:headEnd type="none" w="med" len="med"/>
                      <a:tailEnd type="none" w="med" len="med"/>
                    </a:lnB>
                  </a:tcPr>
                </a:tc>
                <a:tc>
                  <a:txBody>
                    <a:bodyPr/>
                    <a:lstStyle/>
                    <a:p>
                      <a:pPr indent="0" marL="0">
                        <a:lnSpc>
                          <a:spcPts val="2100"/>
                        </a:lnSpc>
                        <a:buNone/>
                      </a:pPr>
                      <a:r>
                        <a:rPr lang="en-US" sz="1500" dirty="0">
                          <a:solidFill>
                            <a:srgbClr val="F2F5F4"/>
                          </a:solidFill>
                          <a:latin typeface="IBM Plex Sans" pitchFamily="34" charset="0"/>
                          <a:ea typeface="IBM Plex Sans" pitchFamily="34" charset="-122"/>
                          <a:cs typeface="IBM Plex Sans" pitchFamily="34" charset="-120"/>
                        </a:rPr>
                        <a:t>About 100 million users in two months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04D"/>
                      </a:solidFill>
                      <a:prstDash val="solid"/>
                      <a:round/>
                      <a:headEnd type="none" w="med" len="med"/>
                      <a:tailEnd type="none" w="med" len="med"/>
                    </a:lnL>
                    <a:lnR w="12700" cap="flat" cmpd="sng" algn="ctr">
                      <a:solidFill>
                        <a:srgbClr val="47504D"/>
                      </a:solidFill>
                      <a:prstDash val="solid"/>
                      <a:round/>
                      <a:headEnd type="none" w="med" len="med"/>
                      <a:tailEnd type="none" w="med" len="med"/>
                    </a:lnR>
                    <a:lnT w="12700" cap="flat" cmpd="sng" algn="ctr">
                      <a:solidFill>
                        <a:srgbClr val="525C59"/>
                      </a:solidFill>
                      <a:prstDash val="solid"/>
                      <a:round/>
                      <a:headEnd type="none" w="med" len="med"/>
                      <a:tailEnd type="none" w="med" len="med"/>
                    </a:lnT>
                    <a:lnB w="12700" cap="flat" cmpd="sng" algn="ctr">
                      <a:solidFill>
                        <a:srgbClr val="47504D"/>
                      </a:solidFill>
                      <a:prstDash val="solid"/>
                      <a:round/>
                      <a:headEnd type="none" w="med" len="med"/>
                      <a:tailEnd type="none" w="med" len="med"/>
                    </a:lnB>
                  </a:tcPr>
                </a:tc>
              </a:tr>
              <a:tr h="678180">
                <a:tc>
                  <a:txBody>
                    <a:bodyPr/>
                    <a:lstStyle/>
                    <a:p>
                      <a:pPr indent="0" marL="0">
                        <a:lnSpc>
                          <a:spcPts val="2100"/>
                        </a:lnSpc>
                        <a:buNone/>
                      </a:pPr>
                      <a:r>
                        <a:rPr lang="en-US" sz="1500" dirty="0">
                          <a:solidFill>
                            <a:srgbClr val="F2F5F4"/>
                          </a:solidFill>
                          <a:latin typeface="IBM Plex Sans" pitchFamily="34" charset="0"/>
                          <a:ea typeface="IBM Plex Sans" pitchFamily="34" charset="-122"/>
                          <a:cs typeface="IBM Plex Sans" pitchFamily="34" charset="-120"/>
                        </a:rPr>
                        <a:t>2023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04D"/>
                      </a:solidFill>
                      <a:prstDash val="solid"/>
                      <a:round/>
                      <a:headEnd type="none" w="med" len="med"/>
                      <a:tailEnd type="none" w="med" len="med"/>
                    </a:lnL>
                    <a:lnR w="12700" cap="flat" cmpd="sng" algn="ctr">
                      <a:solidFill>
                        <a:srgbClr val="47504D"/>
                      </a:solidFill>
                      <a:prstDash val="solid"/>
                      <a:round/>
                      <a:headEnd type="none" w="med" len="med"/>
                      <a:tailEnd type="none" w="med" len="med"/>
                    </a:lnR>
                    <a:lnT w="12700" cap="flat" cmpd="sng" algn="ctr">
                      <a:solidFill>
                        <a:srgbClr val="47504D"/>
                      </a:solidFill>
                      <a:prstDash val="solid"/>
                      <a:round/>
                      <a:headEnd type="none" w="med" len="med"/>
                      <a:tailEnd type="none" w="med" len="med"/>
                    </a:lnT>
                    <a:lnB w="12700" cap="flat" cmpd="sng" algn="ctr">
                      <a:solidFill>
                        <a:srgbClr val="47504D"/>
                      </a:solidFill>
                      <a:prstDash val="solid"/>
                      <a:round/>
                      <a:headEnd type="none" w="med" len="med"/>
                      <a:tailEnd type="none" w="med" len="med"/>
                    </a:lnB>
                  </a:tcPr>
                </a:tc>
                <a:tc>
                  <a:txBody>
                    <a:bodyPr/>
                    <a:lstStyle/>
                    <a:p>
                      <a:pPr indent="0" marL="0">
                        <a:lnSpc>
                          <a:spcPts val="2100"/>
                        </a:lnSpc>
                        <a:buNone/>
                      </a:pPr>
                      <a:r>
                        <a:rPr lang="en-US" sz="1500" dirty="0">
                          <a:solidFill>
                            <a:srgbClr val="F2F5F4"/>
                          </a:solidFill>
                          <a:latin typeface="IBM Plex Sans" pitchFamily="34" charset="0"/>
                          <a:ea typeface="IBM Plex Sans" pitchFamily="34" charset="-122"/>
                          <a:cs typeface="IBM Plex Sans" pitchFamily="34" charset="-120"/>
                        </a:rPr>
                        <a:t>GPT-4, Anthropic’s Claude, Meta’s Llama, Google’s Gemini</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04D"/>
                      </a:solidFill>
                      <a:prstDash val="solid"/>
                      <a:round/>
                      <a:headEnd type="none" w="med" len="med"/>
                      <a:tailEnd type="none" w="med" len="med"/>
                    </a:lnL>
                    <a:lnR w="12700" cap="flat" cmpd="sng" algn="ctr">
                      <a:solidFill>
                        <a:srgbClr val="47504D"/>
                      </a:solidFill>
                      <a:prstDash val="solid"/>
                      <a:round/>
                      <a:headEnd type="none" w="med" len="med"/>
                      <a:tailEnd type="none" w="med" len="med"/>
                    </a:lnR>
                    <a:lnT w="12700" cap="flat" cmpd="sng" algn="ctr">
                      <a:solidFill>
                        <a:srgbClr val="47504D"/>
                      </a:solidFill>
                      <a:prstDash val="solid"/>
                      <a:round/>
                      <a:headEnd type="none" w="med" len="med"/>
                      <a:tailEnd type="none" w="med" len="med"/>
                    </a:lnT>
                    <a:lnB w="12700" cap="flat" cmpd="sng" algn="ctr">
                      <a:solidFill>
                        <a:srgbClr val="47504D"/>
                      </a:solidFill>
                      <a:prstDash val="solid"/>
                      <a:round/>
                      <a:headEnd type="none" w="med" len="med"/>
                      <a:tailEnd type="none" w="med" len="med"/>
                    </a:lnB>
                  </a:tcPr>
                </a:tc>
                <a:tc>
                  <a:txBody>
                    <a:bodyPr/>
                    <a:lstStyle/>
                    <a:p>
                      <a:pPr indent="0" marL="0">
                        <a:lnSpc>
                          <a:spcPts val="2100"/>
                        </a:lnSpc>
                        <a:buNone/>
                      </a:pPr>
                      <a:r>
                        <a:rPr lang="en-US" sz="1500" dirty="0">
                          <a:solidFill>
                            <a:srgbClr val="F2F5F4"/>
                          </a:solidFill>
                          <a:latin typeface="IBM Plex Sans" pitchFamily="34" charset="0"/>
                          <a:ea typeface="IBM Plex Sans" pitchFamily="34" charset="-122"/>
                          <a:cs typeface="IBM Plex Sans" pitchFamily="34" charset="-120"/>
                        </a:rPr>
                        <a:t>The multimodal model race begins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04D"/>
                      </a:solidFill>
                      <a:prstDash val="solid"/>
                      <a:round/>
                      <a:headEnd type="none" w="med" len="med"/>
                      <a:tailEnd type="none" w="med" len="med"/>
                    </a:lnL>
                    <a:lnR w="12700" cap="flat" cmpd="sng" algn="ctr">
                      <a:solidFill>
                        <a:srgbClr val="47504D"/>
                      </a:solidFill>
                      <a:prstDash val="solid"/>
                      <a:round/>
                      <a:headEnd type="none" w="med" len="med"/>
                      <a:tailEnd type="none" w="med" len="med"/>
                    </a:lnR>
                    <a:lnT w="12700" cap="flat" cmpd="sng" algn="ctr">
                      <a:solidFill>
                        <a:srgbClr val="47504D"/>
                      </a:solidFill>
                      <a:prstDash val="solid"/>
                      <a:round/>
                      <a:headEnd type="none" w="med" len="med"/>
                      <a:tailEnd type="none" w="med" len="med"/>
                    </a:lnT>
                    <a:lnB w="12700" cap="flat" cmpd="sng" algn="ctr">
                      <a:solidFill>
                        <a:srgbClr val="47504D"/>
                      </a:solidFill>
                      <a:prstDash val="solid"/>
                      <a:round/>
                      <a:headEnd type="none" w="med" len="med"/>
                      <a:tailEnd type="none" w="med" len="med"/>
                    </a:lnB>
                  </a:tcPr>
                </a:tc>
              </a:tr>
              <a:tr h="411480">
                <a:tc>
                  <a:txBody>
                    <a:bodyPr/>
                    <a:lstStyle/>
                    <a:p>
                      <a:pPr indent="0" marL="0">
                        <a:lnSpc>
                          <a:spcPts val="2100"/>
                        </a:lnSpc>
                        <a:buNone/>
                      </a:pPr>
                      <a:r>
                        <a:rPr lang="en-US" sz="1500" dirty="0">
                          <a:solidFill>
                            <a:srgbClr val="F2F5F4"/>
                          </a:solidFill>
                          <a:latin typeface="IBM Plex Sans" pitchFamily="34" charset="0"/>
                          <a:ea typeface="IBM Plex Sans" pitchFamily="34" charset="-122"/>
                          <a:cs typeface="IBM Plex Sans" pitchFamily="34" charset="-120"/>
                        </a:rPr>
                        <a:t>2024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04D"/>
                      </a:solidFill>
                      <a:prstDash val="solid"/>
                      <a:round/>
                      <a:headEnd type="none" w="med" len="med"/>
                      <a:tailEnd type="none" w="med" len="med"/>
                    </a:lnL>
                    <a:lnR w="12700" cap="flat" cmpd="sng" algn="ctr">
                      <a:solidFill>
                        <a:srgbClr val="47504D"/>
                      </a:solidFill>
                      <a:prstDash val="solid"/>
                      <a:round/>
                      <a:headEnd type="none" w="med" len="med"/>
                      <a:tailEnd type="none" w="med" len="med"/>
                    </a:lnR>
                    <a:lnT w="12700" cap="flat" cmpd="sng" algn="ctr">
                      <a:solidFill>
                        <a:srgbClr val="47504D"/>
                      </a:solidFill>
                      <a:prstDash val="solid"/>
                      <a:round/>
                      <a:headEnd type="none" w="med" len="med"/>
                      <a:tailEnd type="none" w="med" len="med"/>
                    </a:lnT>
                    <a:lnB w="12700" cap="flat" cmpd="sng" algn="ctr">
                      <a:solidFill>
                        <a:srgbClr val="47504D"/>
                      </a:solidFill>
                      <a:prstDash val="solid"/>
                      <a:round/>
                      <a:headEnd type="none" w="med" len="med"/>
                      <a:tailEnd type="none" w="med" len="med"/>
                    </a:lnB>
                  </a:tcPr>
                </a:tc>
                <a:tc>
                  <a:txBody>
                    <a:bodyPr/>
                    <a:lstStyle/>
                    <a:p>
                      <a:pPr indent="0" marL="0">
                        <a:lnSpc>
                          <a:spcPts val="2100"/>
                        </a:lnSpc>
                        <a:buNone/>
                      </a:pPr>
                      <a:r>
                        <a:rPr lang="en-US" sz="1500" dirty="0">
                          <a:solidFill>
                            <a:srgbClr val="F2F5F4"/>
                          </a:solidFill>
                          <a:latin typeface="IBM Plex Sans" pitchFamily="34" charset="0"/>
                          <a:ea typeface="IBM Plex Sans" pitchFamily="34" charset="-122"/>
                          <a:cs typeface="IBM Plex Sans" pitchFamily="34" charset="-120"/>
                        </a:rPr>
                        <a:t>Nobel Prizes for Hinton, Hopfield, Hassabis and Jumper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04D"/>
                      </a:solidFill>
                      <a:prstDash val="solid"/>
                      <a:round/>
                      <a:headEnd type="none" w="med" len="med"/>
                      <a:tailEnd type="none" w="med" len="med"/>
                    </a:lnL>
                    <a:lnR w="12700" cap="flat" cmpd="sng" algn="ctr">
                      <a:solidFill>
                        <a:srgbClr val="47504D"/>
                      </a:solidFill>
                      <a:prstDash val="solid"/>
                      <a:round/>
                      <a:headEnd type="none" w="med" len="med"/>
                      <a:tailEnd type="none" w="med" len="med"/>
                    </a:lnR>
                    <a:lnT w="12700" cap="flat" cmpd="sng" algn="ctr">
                      <a:solidFill>
                        <a:srgbClr val="47504D"/>
                      </a:solidFill>
                      <a:prstDash val="solid"/>
                      <a:round/>
                      <a:headEnd type="none" w="med" len="med"/>
                      <a:tailEnd type="none" w="med" len="med"/>
                    </a:lnT>
                    <a:lnB w="12700" cap="flat" cmpd="sng" algn="ctr">
                      <a:solidFill>
                        <a:srgbClr val="47504D"/>
                      </a:solidFill>
                      <a:prstDash val="solid"/>
                      <a:round/>
                      <a:headEnd type="none" w="med" len="med"/>
                      <a:tailEnd type="none" w="med" len="med"/>
                    </a:lnB>
                  </a:tcPr>
                </a:tc>
                <a:tc>
                  <a:txBody>
                    <a:bodyPr/>
                    <a:lstStyle/>
                    <a:p>
                      <a:pPr indent="0" marL="0">
                        <a:lnSpc>
                          <a:spcPts val="2100"/>
                        </a:lnSpc>
                        <a:buNone/>
                      </a:pPr>
                      <a:r>
                        <a:rPr lang="en-US" sz="1500" dirty="0">
                          <a:solidFill>
                            <a:srgbClr val="F2F5F4"/>
                          </a:solidFill>
                          <a:latin typeface="IBM Plex Sans" pitchFamily="34" charset="0"/>
                          <a:ea typeface="IBM Plex Sans" pitchFamily="34" charset="-122"/>
                          <a:cs typeface="IBM Plex Sans" pitchFamily="34" charset="-120"/>
                        </a:rPr>
                        <a:t>AI recognized as science; EU AI Act passes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04D"/>
                      </a:solidFill>
                      <a:prstDash val="solid"/>
                      <a:round/>
                      <a:headEnd type="none" w="med" len="med"/>
                      <a:tailEnd type="none" w="med" len="med"/>
                    </a:lnL>
                    <a:lnR w="12700" cap="flat" cmpd="sng" algn="ctr">
                      <a:solidFill>
                        <a:srgbClr val="47504D"/>
                      </a:solidFill>
                      <a:prstDash val="solid"/>
                      <a:round/>
                      <a:headEnd type="none" w="med" len="med"/>
                      <a:tailEnd type="none" w="med" len="med"/>
                    </a:lnR>
                    <a:lnT w="12700" cap="flat" cmpd="sng" algn="ctr">
                      <a:solidFill>
                        <a:srgbClr val="47504D"/>
                      </a:solidFill>
                      <a:prstDash val="solid"/>
                      <a:round/>
                      <a:headEnd type="none" w="med" len="med"/>
                      <a:tailEnd type="none" w="med" len="med"/>
                    </a:lnT>
                    <a:lnB w="12700" cap="flat" cmpd="sng" algn="ctr">
                      <a:solidFill>
                        <a:srgbClr val="47504D"/>
                      </a:solidFill>
                      <a:prstDash val="solid"/>
                      <a:round/>
                      <a:headEnd type="none" w="med" len="med"/>
                      <a:tailEnd type="none" w="med" len="med"/>
                    </a:lnB>
                  </a:tcPr>
                </a:tc>
              </a:tr>
              <a:tr h="411480">
                <a:tc>
                  <a:txBody>
                    <a:bodyPr/>
                    <a:lstStyle/>
                    <a:p>
                      <a:pPr indent="0" marL="0">
                        <a:lnSpc>
                          <a:spcPts val="2100"/>
                        </a:lnSpc>
                        <a:buNone/>
                      </a:pPr>
                      <a:r>
                        <a:rPr lang="en-US" sz="1500" dirty="0">
                          <a:solidFill>
                            <a:srgbClr val="F2F5F4"/>
                          </a:solidFill>
                          <a:latin typeface="IBM Plex Sans" pitchFamily="34" charset="0"/>
                          <a:ea typeface="IBM Plex Sans" pitchFamily="34" charset="-122"/>
                          <a:cs typeface="IBM Plex Sans" pitchFamily="34" charset="-120"/>
                        </a:rPr>
                        <a:t>2025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04D"/>
                      </a:solidFill>
                      <a:prstDash val="solid"/>
                      <a:round/>
                      <a:headEnd type="none" w="med" len="med"/>
                      <a:tailEnd type="none" w="med" len="med"/>
                    </a:lnL>
                    <a:lnR w="12700" cap="flat" cmpd="sng" algn="ctr">
                      <a:solidFill>
                        <a:srgbClr val="47504D"/>
                      </a:solidFill>
                      <a:prstDash val="solid"/>
                      <a:round/>
                      <a:headEnd type="none" w="med" len="med"/>
                      <a:tailEnd type="none" w="med" len="med"/>
                    </a:lnR>
                    <a:lnT w="12700" cap="flat" cmpd="sng" algn="ctr">
                      <a:solidFill>
                        <a:srgbClr val="47504D"/>
                      </a:solidFill>
                      <a:prstDash val="solid"/>
                      <a:round/>
                      <a:headEnd type="none" w="med" len="med"/>
                      <a:tailEnd type="none" w="med" len="med"/>
                    </a:lnT>
                    <a:lnB w="12700" cap="flat" cmpd="sng" algn="ctr">
                      <a:solidFill>
                        <a:srgbClr val="47504D"/>
                      </a:solidFill>
                      <a:prstDash val="solid"/>
                      <a:round/>
                      <a:headEnd type="none" w="med" len="med"/>
                      <a:tailEnd type="none" w="med" len="med"/>
                    </a:lnB>
                  </a:tcPr>
                </a:tc>
                <a:tc>
                  <a:txBody>
                    <a:bodyPr/>
                    <a:lstStyle/>
                    <a:p>
                      <a:pPr indent="0" marL="0">
                        <a:lnSpc>
                          <a:spcPts val="2100"/>
                        </a:lnSpc>
                        <a:buNone/>
                      </a:pPr>
                      <a:r>
                        <a:rPr lang="en-US" sz="1500" dirty="0">
                          <a:solidFill>
                            <a:srgbClr val="F2F5F4"/>
                          </a:solidFill>
                          <a:latin typeface="IBM Plex Sans" pitchFamily="34" charset="0"/>
                          <a:ea typeface="IBM Plex Sans" pitchFamily="34" charset="-122"/>
                          <a:cs typeface="IBM Plex Sans" pitchFamily="34" charset="-120"/>
                        </a:rPr>
                        <a:t>DeepSeek-R1, reasoning models and AI agents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04D"/>
                      </a:solidFill>
                      <a:prstDash val="solid"/>
                      <a:round/>
                      <a:headEnd type="none" w="med" len="med"/>
                      <a:tailEnd type="none" w="med" len="med"/>
                    </a:lnL>
                    <a:lnR w="12700" cap="flat" cmpd="sng" algn="ctr">
                      <a:solidFill>
                        <a:srgbClr val="47504D"/>
                      </a:solidFill>
                      <a:prstDash val="solid"/>
                      <a:round/>
                      <a:headEnd type="none" w="med" len="med"/>
                      <a:tailEnd type="none" w="med" len="med"/>
                    </a:lnR>
                    <a:lnT w="12700" cap="flat" cmpd="sng" algn="ctr">
                      <a:solidFill>
                        <a:srgbClr val="47504D"/>
                      </a:solidFill>
                      <a:prstDash val="solid"/>
                      <a:round/>
                      <a:headEnd type="none" w="med" len="med"/>
                      <a:tailEnd type="none" w="med" len="med"/>
                    </a:lnT>
                    <a:lnB w="12700" cap="flat" cmpd="sng" algn="ctr">
                      <a:solidFill>
                        <a:srgbClr val="47504D"/>
                      </a:solidFill>
                      <a:prstDash val="solid"/>
                      <a:round/>
                      <a:headEnd type="none" w="med" len="med"/>
                      <a:tailEnd type="none" w="med" len="med"/>
                    </a:lnB>
                  </a:tcPr>
                </a:tc>
                <a:tc>
                  <a:txBody>
                    <a:bodyPr/>
                    <a:lstStyle/>
                    <a:p>
                      <a:pPr indent="0" marL="0">
                        <a:lnSpc>
                          <a:spcPts val="2100"/>
                        </a:lnSpc>
                        <a:buNone/>
                      </a:pPr>
                      <a:r>
                        <a:rPr lang="en-US" sz="1500" dirty="0">
                          <a:solidFill>
                            <a:srgbClr val="F2F5F4"/>
                          </a:solidFill>
                          <a:latin typeface="IBM Plex Sans" pitchFamily="34" charset="0"/>
                          <a:ea typeface="IBM Plex Sans" pitchFamily="34" charset="-122"/>
                          <a:cs typeface="IBM Plex Sans" pitchFamily="34" charset="-120"/>
                        </a:rPr>
                        <a:t>Cheaper frontier AI; NVIDIA hits $5 trillion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04D"/>
                      </a:solidFill>
                      <a:prstDash val="solid"/>
                      <a:round/>
                      <a:headEnd type="none" w="med" len="med"/>
                      <a:tailEnd type="none" w="med" len="med"/>
                    </a:lnL>
                    <a:lnR w="12700" cap="flat" cmpd="sng" algn="ctr">
                      <a:solidFill>
                        <a:srgbClr val="47504D"/>
                      </a:solidFill>
                      <a:prstDash val="solid"/>
                      <a:round/>
                      <a:headEnd type="none" w="med" len="med"/>
                      <a:tailEnd type="none" w="med" len="med"/>
                    </a:lnR>
                    <a:lnT w="12700" cap="flat" cmpd="sng" algn="ctr">
                      <a:solidFill>
                        <a:srgbClr val="47504D"/>
                      </a:solidFill>
                      <a:prstDash val="solid"/>
                      <a:round/>
                      <a:headEnd type="none" w="med" len="med"/>
                      <a:tailEnd type="none" w="med" len="med"/>
                    </a:lnT>
                    <a:lnB w="12700" cap="flat" cmpd="sng" algn="ctr">
                      <a:solidFill>
                        <a:srgbClr val="47504D"/>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4"/>
        </a:solidFill>
      </p:bgPr>
    </p:bg>
    <p:spTree>
      <p:nvGrpSpPr>
        <p:cNvPr id="1" name=""/>
        <p:cNvGrpSpPr/>
        <p:nvPr/>
      </p:nvGrpSpPr>
      <p:grpSpPr>
        <a:xfrm>
          <a:off x="0" y="0"/>
          <a:ext cx="0" cy="0"/>
          <a:chOff x="0" y="0"/>
          <a:chExt cx="0" cy="0"/>
        </a:xfrm>
      </p:grpSpPr>
      <p:sp>
        <p:nvSpPr>
          <p:cNvPr id="2" name="Text 0"/>
          <p:cNvSpPr/>
          <p:nvPr>
            <p:ph type="title"/>
          </p:nvPr>
        </p:nvSpPr>
        <p:spPr>
          <a:xfrm>
            <a:off x="812780" y="812781"/>
            <a:ext cx="10883434"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D"/>
                </a:solidFill>
                <a:latin typeface="Bricolage Grotesque" pitchFamily="34" charset="0"/>
                <a:ea typeface="Bricolage Grotesque" pitchFamily="34" charset="-122"/>
                <a:cs typeface="Bricolage Grotesque" pitchFamily="34" charset="-120"/>
              </a:rPr>
              <a:t>Two ideas that frame the story</a:t>
            </a:r>
            <a:endParaRPr lang="en-US" sz="3600" dirty="0"/>
          </a:p>
        </p:txBody>
      </p:sp>
      <p:sp>
        <p:nvSpPr>
          <p:cNvPr id="3" name="Shape 1"/>
          <p:cNvSpPr/>
          <p:nvPr/>
        </p:nvSpPr>
        <p:spPr>
          <a:xfrm>
            <a:off x="815955" y="1623678"/>
            <a:ext cx="5175250" cy="2252742"/>
          </a:xfrm>
          <a:prstGeom prst="roundRect">
            <a:avLst>
              <a:gd name="adj" fmla="val 4369"/>
            </a:avLst>
          </a:prstGeom>
          <a:solidFill>
            <a:srgbClr val="FBFCFB"/>
          </a:solidFill>
          <a:ln w="6350">
            <a:solidFill>
              <a:srgbClr val="D2DBD8"/>
            </a:solidFill>
            <a:prstDash val="solid"/>
          </a:ln>
        </p:spPr>
        <p:txBody>
          <a:bodyPr/>
          <a:p/>
        </p:txBody>
      </p:sp>
      <p:sp>
        <p:nvSpPr>
          <p:cNvPr id="4" name="Text 2"/>
          <p:cNvSpPr/>
          <p:nvPr/>
        </p:nvSpPr>
        <p:spPr>
          <a:xfrm>
            <a:off x="1121390" y="1929110"/>
            <a:ext cx="470131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E9F"/>
                </a:solidFill>
                <a:latin typeface="IBM Plex Sans" pitchFamily="34" charset="0"/>
                <a:ea typeface="IBM Plex Sans" pitchFamily="34" charset="-122"/>
                <a:cs typeface="IBM Plex Sans" pitchFamily="34" charset="-120"/>
              </a:rPr>
              <a:t>SYMBOLIC → CONNECTIONIST</a:t>
            </a:r>
            <a:endParaRPr lang="en-US" sz="1200" dirty="0"/>
          </a:p>
        </p:txBody>
      </p:sp>
      <p:sp>
        <p:nvSpPr>
          <p:cNvPr id="5" name="Text 3"/>
          <p:cNvSpPr/>
          <p:nvPr/>
        </p:nvSpPr>
        <p:spPr>
          <a:xfrm>
            <a:off x="1121390" y="2269455"/>
            <a:ext cx="4701312" cy="346631"/>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01D"/>
                </a:solidFill>
                <a:latin typeface="Bricolage Grotesque" pitchFamily="34" charset="0"/>
                <a:ea typeface="Bricolage Grotesque" pitchFamily="34" charset="-122"/>
                <a:cs typeface="Bricolage Grotesque" pitchFamily="34" charset="-120"/>
              </a:rPr>
              <a:t>Rules vs. learning</a:t>
            </a:r>
            <a:endParaRPr lang="en-US" sz="2200" dirty="0"/>
          </a:p>
        </p:txBody>
      </p:sp>
      <p:sp>
        <p:nvSpPr>
          <p:cNvPr id="6" name="Text 4"/>
          <p:cNvSpPr/>
          <p:nvPr/>
        </p:nvSpPr>
        <p:spPr>
          <a:xfrm>
            <a:off x="1121390" y="2717664"/>
            <a:ext cx="4701312" cy="87872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F5E5B"/>
                </a:solidFill>
                <a:latin typeface="IBM Plex Sans" pitchFamily="34" charset="0"/>
                <a:ea typeface="IBM Plex Sans" pitchFamily="34" charset="-122"/>
                <a:cs typeface="IBM Plex Sans" pitchFamily="34" charset="-120"/>
              </a:rPr>
              <a:t>Early AI hand-coded logic and rules, from expert systems to Deep Blue. Modern AI learns patterns from data with neural networks.</a:t>
            </a:r>
            <a:endParaRPr lang="en-US" sz="1600" dirty="0"/>
          </a:p>
        </p:txBody>
      </p:sp>
      <p:sp>
        <p:nvSpPr>
          <p:cNvPr id="7" name="Shape 5"/>
          <p:cNvSpPr/>
          <p:nvPr/>
        </p:nvSpPr>
        <p:spPr>
          <a:xfrm>
            <a:off x="6200735" y="1623678"/>
            <a:ext cx="5175310" cy="2252742"/>
          </a:xfrm>
          <a:prstGeom prst="roundRect">
            <a:avLst>
              <a:gd name="adj" fmla="val 4369"/>
            </a:avLst>
          </a:prstGeom>
          <a:solidFill>
            <a:srgbClr val="FBFCFB"/>
          </a:solidFill>
          <a:ln w="6350">
            <a:solidFill>
              <a:srgbClr val="D2DBD8"/>
            </a:solidFill>
            <a:prstDash val="solid"/>
          </a:ln>
        </p:spPr>
        <p:txBody>
          <a:bodyPr/>
          <a:p/>
        </p:txBody>
      </p:sp>
      <p:sp>
        <p:nvSpPr>
          <p:cNvPr id="8" name="Text 6"/>
          <p:cNvSpPr/>
          <p:nvPr/>
        </p:nvSpPr>
        <p:spPr>
          <a:xfrm>
            <a:off x="6506170" y="1929110"/>
            <a:ext cx="470137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E9F"/>
                </a:solidFill>
                <a:latin typeface="IBM Plex Sans" pitchFamily="34" charset="0"/>
                <a:ea typeface="IBM Plex Sans" pitchFamily="34" charset="-122"/>
                <a:cs typeface="IBM Plex Sans" pitchFamily="34" charset="-120"/>
              </a:rPr>
              <a:t>NARROW AI VS. AGI</a:t>
            </a:r>
            <a:endParaRPr lang="en-US" sz="1200" dirty="0"/>
          </a:p>
        </p:txBody>
      </p:sp>
      <p:sp>
        <p:nvSpPr>
          <p:cNvPr id="9" name="Text 7"/>
          <p:cNvSpPr/>
          <p:nvPr/>
        </p:nvSpPr>
        <p:spPr>
          <a:xfrm>
            <a:off x="6506170" y="2269455"/>
            <a:ext cx="4701373" cy="346631"/>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01D"/>
                </a:solidFill>
                <a:latin typeface="Bricolage Grotesque" pitchFamily="34" charset="0"/>
                <a:ea typeface="Bricolage Grotesque" pitchFamily="34" charset="-122"/>
                <a:cs typeface="Bricolage Grotesque" pitchFamily="34" charset="-120"/>
              </a:rPr>
              <a:t>Specialist vs. generalist</a:t>
            </a:r>
            <a:endParaRPr lang="en-US" sz="2200" dirty="0"/>
          </a:p>
        </p:txBody>
      </p:sp>
      <p:sp>
        <p:nvSpPr>
          <p:cNvPr id="10" name="Text 8"/>
          <p:cNvSpPr/>
          <p:nvPr/>
        </p:nvSpPr>
        <p:spPr>
          <a:xfrm>
            <a:off x="6506170" y="2717664"/>
            <a:ext cx="4701373" cy="87872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F5E5B"/>
                </a:solidFill>
                <a:latin typeface="IBM Plex Sans" pitchFamily="34" charset="0"/>
                <a:ea typeface="IBM Plex Sans" pitchFamily="34" charset="-122"/>
                <a:cs typeface="IBM Plex Sans" pitchFamily="34" charset="-120"/>
              </a:rPr>
              <a:t>Every system in this timeline is narrow AI. Artificial General Intelligence, matching humans at any task, is still a goal and a debate.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5F4"/>
        </a:solidFill>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E3A20"/>
                </a:solidFill>
                <a:latin typeface="IBM Plex Sans" pitchFamily="34" charset="0"/>
                <a:ea typeface="IBM Plex Sans" pitchFamily="34" charset="-122"/>
                <a:cs typeface="IBM Plex Sans" pitchFamily="34" charset="-120"/>
              </a:rPr>
              <a:t>TODAY</a:t>
            </a:r>
            <a:endParaRPr lang="en-US" sz="1200" dirty="0"/>
          </a:p>
        </p:txBody>
      </p:sp>
      <p:sp>
        <p:nvSpPr>
          <p:cNvPr id="3" name="Text 1"/>
          <p:cNvSpPr/>
          <p:nvPr>
            <p:ph type="title"/>
          </p:nvPr>
        </p:nvSpPr>
        <p:spPr>
          <a:xfrm>
            <a:off x="812780" y="1102345"/>
            <a:ext cx="10883434"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D"/>
                </a:solidFill>
                <a:latin typeface="Bricolage Grotesque" pitchFamily="34" charset="0"/>
                <a:ea typeface="Bricolage Grotesque" pitchFamily="34" charset="-122"/>
                <a:cs typeface="Bricolage Grotesque" pitchFamily="34" charset="-120"/>
              </a:rPr>
              <a:t>The leading players</a:t>
            </a:r>
            <a:endParaRPr lang="en-US" sz="3600" dirty="0"/>
          </a:p>
        </p:txBody>
      </p:sp>
      <p:sp>
        <p:nvSpPr>
          <p:cNvPr id="4" name="Shape 2"/>
          <p:cNvSpPr/>
          <p:nvPr/>
        </p:nvSpPr>
        <p:spPr>
          <a:xfrm>
            <a:off x="815955" y="1913235"/>
            <a:ext cx="4043918" cy="2311380"/>
          </a:xfrm>
          <a:prstGeom prst="roundRect">
            <a:avLst>
              <a:gd name="adj" fmla="val 4258"/>
            </a:avLst>
          </a:prstGeom>
          <a:solidFill>
            <a:srgbClr val="FBFCFB"/>
          </a:solidFill>
          <a:ln w="6350">
            <a:solidFill>
              <a:srgbClr val="D2DBD8"/>
            </a:solidFill>
            <a:prstDash val="solid"/>
          </a:ln>
        </p:spPr>
        <p:txBody>
          <a:bodyPr/>
          <a:p/>
        </p:txBody>
      </p:sp>
      <p:sp>
        <p:nvSpPr>
          <p:cNvPr id="5" name="Text 3"/>
          <p:cNvSpPr/>
          <p:nvPr/>
        </p:nvSpPr>
        <p:spPr>
          <a:xfrm>
            <a:off x="1095970" y="2193255"/>
            <a:ext cx="3588405" cy="3606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E3A20"/>
                </a:solidFill>
                <a:latin typeface="Bricolage Grotesque" pitchFamily="34" charset="0"/>
                <a:ea typeface="Bricolage Grotesque" pitchFamily="34" charset="-122"/>
                <a:cs typeface="Bricolage Grotesque" pitchFamily="34" charset="-120"/>
              </a:rPr>
              <a:t>Models</a:t>
            </a:r>
            <a:endParaRPr lang="en-US" sz="2200" dirty="0"/>
          </a:p>
        </p:txBody>
      </p:sp>
      <p:sp>
        <p:nvSpPr>
          <p:cNvPr id="6" name="Text 4"/>
          <p:cNvSpPr/>
          <p:nvPr/>
        </p:nvSpPr>
        <p:spPr>
          <a:xfrm>
            <a:off x="1174202" y="2655453"/>
            <a:ext cx="3502553" cy="1314549"/>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b="1" dirty="0">
                <a:solidFill>
                  <a:srgbClr val="14201D"/>
                </a:solidFill>
                <a:latin typeface="IBM Plex Sans" pitchFamily="34" charset="0"/>
                <a:ea typeface="IBM Plex Sans" pitchFamily="34" charset="-122"/>
                <a:cs typeface="IBM Plex Sans" pitchFamily="34" charset="-120"/>
              </a:rPr>
              <a:t>OpenAI:</a:t>
            </a:r>
            <a:r>
              <a:rPr lang="en-US" sz="1400" dirty="0">
                <a:solidFill>
                  <a:srgbClr val="14201D"/>
                </a:solidFill>
                <a:latin typeface="IBM Plex Sans" pitchFamily="34" charset="0"/>
                <a:ea typeface="IBM Plex Sans" pitchFamily="34" charset="-122"/>
                <a:cs typeface="IBM Plex Sans" pitchFamily="34" charset="-120"/>
              </a:rPr>
              <a:t> GPT and ChatGPT</a:t>
            </a:r>
            <a:endParaRPr lang="en-US" sz="1400" dirty="0"/>
          </a:p>
          <a:p>
            <a:pPr algn="l" marL="175768" indent="-175768">
              <a:lnSpc>
                <a:spcPts val="2030"/>
              </a:lnSpc>
              <a:buSzPct val="100000"/>
              <a:buChar char="•"/>
            </a:pPr>
            <a:r>
              <a:rPr lang="en-US" sz="1400" b="1" dirty="0">
                <a:solidFill>
                  <a:srgbClr val="14201D"/>
                </a:solidFill>
                <a:latin typeface="IBM Plex Sans" pitchFamily="34" charset="0"/>
                <a:ea typeface="IBM Plex Sans" pitchFamily="34" charset="-122"/>
                <a:cs typeface="IBM Plex Sans" pitchFamily="34" charset="-120"/>
              </a:rPr>
              <a:t>Google DeepMind:</a:t>
            </a:r>
            <a:r>
              <a:rPr lang="en-US" sz="1400" dirty="0">
                <a:solidFill>
                  <a:srgbClr val="14201D"/>
                </a:solidFill>
                <a:latin typeface="IBM Plex Sans" pitchFamily="34" charset="0"/>
                <a:ea typeface="IBM Plex Sans" pitchFamily="34" charset="-122"/>
                <a:cs typeface="IBM Plex Sans" pitchFamily="34" charset="-120"/>
              </a:rPr>
              <a:t> Gemini, AlphaFold</a:t>
            </a:r>
            <a:endParaRPr lang="en-US" sz="1400" dirty="0"/>
          </a:p>
          <a:p>
            <a:pPr algn="l" marL="175768" indent="-175768">
              <a:lnSpc>
                <a:spcPts val="2030"/>
              </a:lnSpc>
              <a:buSzPct val="100000"/>
              <a:buChar char="•"/>
            </a:pPr>
            <a:r>
              <a:rPr lang="en-US" sz="1400" b="1" dirty="0">
                <a:solidFill>
                  <a:srgbClr val="14201D"/>
                </a:solidFill>
                <a:latin typeface="IBM Plex Sans" pitchFamily="34" charset="0"/>
                <a:ea typeface="IBM Plex Sans" pitchFamily="34" charset="-122"/>
                <a:cs typeface="IBM Plex Sans" pitchFamily="34" charset="-120"/>
              </a:rPr>
              <a:t>Anthropic:</a:t>
            </a:r>
            <a:r>
              <a:rPr lang="en-US" sz="1400" dirty="0">
                <a:solidFill>
                  <a:srgbClr val="14201D"/>
                </a:solidFill>
                <a:latin typeface="IBM Plex Sans" pitchFamily="34" charset="0"/>
                <a:ea typeface="IBM Plex Sans" pitchFamily="34" charset="-122"/>
                <a:cs typeface="IBM Plex Sans" pitchFamily="34" charset="-120"/>
              </a:rPr>
              <a:t> Claude</a:t>
            </a:r>
            <a:endParaRPr lang="en-US" sz="1400" dirty="0"/>
          </a:p>
          <a:p>
            <a:pPr algn="l" marL="175768" indent="-175768">
              <a:lnSpc>
                <a:spcPts val="2030"/>
              </a:lnSpc>
              <a:buSzPct val="100000"/>
              <a:buChar char="•"/>
            </a:pPr>
            <a:r>
              <a:rPr lang="en-US" sz="1400" b="1" dirty="0">
                <a:solidFill>
                  <a:srgbClr val="14201D"/>
                </a:solidFill>
                <a:latin typeface="IBM Plex Sans" pitchFamily="34" charset="0"/>
                <a:ea typeface="IBM Plex Sans" pitchFamily="34" charset="-122"/>
                <a:cs typeface="IBM Plex Sans" pitchFamily="34" charset="-120"/>
              </a:rPr>
              <a:t>Meta:</a:t>
            </a:r>
            <a:r>
              <a:rPr lang="en-US" sz="1400" dirty="0">
                <a:solidFill>
                  <a:srgbClr val="14201D"/>
                </a:solidFill>
                <a:latin typeface="IBM Plex Sans" pitchFamily="34" charset="0"/>
                <a:ea typeface="IBM Plex Sans" pitchFamily="34" charset="-122"/>
                <a:cs typeface="IBM Plex Sans" pitchFamily="34" charset="-120"/>
              </a:rPr>
              <a:t> Llama, open weights</a:t>
            </a:r>
            <a:endParaRPr lang="en-US" sz="1400" dirty="0"/>
          </a:p>
          <a:p>
            <a:pPr algn="l" marL="175768" indent="-175768">
              <a:lnSpc>
                <a:spcPts val="2030"/>
              </a:lnSpc>
              <a:buSzPct val="100000"/>
              <a:buChar char="•"/>
            </a:pPr>
            <a:r>
              <a:rPr lang="en-US" sz="1400" b="1" dirty="0">
                <a:solidFill>
                  <a:srgbClr val="14201D"/>
                </a:solidFill>
                <a:latin typeface="IBM Plex Sans" pitchFamily="34" charset="0"/>
                <a:ea typeface="IBM Plex Sans" pitchFamily="34" charset="-122"/>
                <a:cs typeface="IBM Plex Sans" pitchFamily="34" charset="-120"/>
              </a:rPr>
              <a:t>DeepSeek:</a:t>
            </a:r>
            <a:r>
              <a:rPr lang="en-US" sz="1400" dirty="0">
                <a:solidFill>
                  <a:srgbClr val="14201D"/>
                </a:solidFill>
                <a:latin typeface="IBM Plex Sans" pitchFamily="34" charset="0"/>
                <a:ea typeface="IBM Plex Sans" pitchFamily="34" charset="-122"/>
                <a:cs typeface="IBM Plex Sans" pitchFamily="34" charset="-120"/>
              </a:rPr>
              <a:t> open reasoning models</a:t>
            </a:r>
            <a:endParaRPr lang="en-US" sz="1400" dirty="0"/>
          </a:p>
        </p:txBody>
      </p:sp>
      <p:sp>
        <p:nvSpPr>
          <p:cNvPr id="7" name="Shape 5"/>
          <p:cNvSpPr/>
          <p:nvPr/>
        </p:nvSpPr>
        <p:spPr>
          <a:xfrm>
            <a:off x="5069404" y="1913235"/>
            <a:ext cx="3048556" cy="2311380"/>
          </a:xfrm>
          <a:prstGeom prst="roundRect">
            <a:avLst>
              <a:gd name="adj" fmla="val 4258"/>
            </a:avLst>
          </a:prstGeom>
          <a:solidFill>
            <a:srgbClr val="FBFCFB"/>
          </a:solidFill>
          <a:ln w="6350">
            <a:solidFill>
              <a:srgbClr val="D2DBD8"/>
            </a:solidFill>
            <a:prstDash val="solid"/>
          </a:ln>
        </p:spPr>
        <p:txBody>
          <a:bodyPr/>
          <a:p/>
        </p:txBody>
      </p:sp>
      <p:sp>
        <p:nvSpPr>
          <p:cNvPr id="8" name="Text 6"/>
          <p:cNvSpPr/>
          <p:nvPr/>
        </p:nvSpPr>
        <p:spPr>
          <a:xfrm>
            <a:off x="5349419" y="2193255"/>
            <a:ext cx="2563181" cy="3606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E3A20"/>
                </a:solidFill>
                <a:latin typeface="Bricolage Grotesque" pitchFamily="34" charset="0"/>
                <a:ea typeface="Bricolage Grotesque" pitchFamily="34" charset="-122"/>
                <a:cs typeface="Bricolage Grotesque" pitchFamily="34" charset="-120"/>
              </a:rPr>
              <a:t>Chips</a:t>
            </a:r>
            <a:endParaRPr lang="en-US" sz="2200" dirty="0"/>
          </a:p>
        </p:txBody>
      </p:sp>
      <p:sp>
        <p:nvSpPr>
          <p:cNvPr id="9" name="Text 7"/>
          <p:cNvSpPr/>
          <p:nvPr/>
        </p:nvSpPr>
        <p:spPr>
          <a:xfrm>
            <a:off x="5427651" y="2655453"/>
            <a:ext cx="2477329" cy="798890"/>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b="1" dirty="0">
                <a:solidFill>
                  <a:srgbClr val="14201D"/>
                </a:solidFill>
                <a:latin typeface="IBM Plex Sans" pitchFamily="34" charset="0"/>
                <a:ea typeface="IBM Plex Sans" pitchFamily="34" charset="-122"/>
                <a:cs typeface="IBM Plex Sans" pitchFamily="34" charset="-120"/>
              </a:rPr>
              <a:t>NVIDIA:</a:t>
            </a:r>
            <a:r>
              <a:rPr lang="en-US" sz="1400" dirty="0">
                <a:solidFill>
                  <a:srgbClr val="14201D"/>
                </a:solidFill>
                <a:latin typeface="IBM Plex Sans" pitchFamily="34" charset="0"/>
                <a:ea typeface="IBM Plex Sans" pitchFamily="34" charset="-122"/>
                <a:cs typeface="IBM Plex Sans" pitchFamily="34" charset="-120"/>
              </a:rPr>
              <a:t> GPUs and CUDA</a:t>
            </a:r>
            <a:endParaRPr lang="en-US" sz="1400" dirty="0"/>
          </a:p>
          <a:p>
            <a:pPr algn="l" marL="175768" indent="-175768">
              <a:lnSpc>
                <a:spcPts val="2030"/>
              </a:lnSpc>
              <a:buSzPct val="100000"/>
              <a:buChar char="•"/>
            </a:pPr>
            <a:r>
              <a:rPr lang="en-US" sz="1400" b="1" dirty="0">
                <a:solidFill>
                  <a:srgbClr val="14201D"/>
                </a:solidFill>
                <a:latin typeface="IBM Plex Sans" pitchFamily="34" charset="0"/>
                <a:ea typeface="IBM Plex Sans" pitchFamily="34" charset="-122"/>
                <a:cs typeface="IBM Plex Sans" pitchFamily="34" charset="-120"/>
              </a:rPr>
              <a:t>AMD:</a:t>
            </a:r>
            <a:r>
              <a:rPr lang="en-US" sz="1400" dirty="0">
                <a:solidFill>
                  <a:srgbClr val="14201D"/>
                </a:solidFill>
                <a:latin typeface="IBM Plex Sans" pitchFamily="34" charset="0"/>
                <a:ea typeface="IBM Plex Sans" pitchFamily="34" charset="-122"/>
                <a:cs typeface="IBM Plex Sans" pitchFamily="34" charset="-120"/>
              </a:rPr>
              <a:t> GPUs</a:t>
            </a:r>
            <a:endParaRPr lang="en-US" sz="1400" dirty="0"/>
          </a:p>
          <a:p>
            <a:pPr algn="l" marL="175768" indent="-175768">
              <a:lnSpc>
                <a:spcPts val="2030"/>
              </a:lnSpc>
              <a:buSzPct val="100000"/>
              <a:buChar char="•"/>
            </a:pPr>
            <a:r>
              <a:rPr lang="en-US" sz="1400" b="1" dirty="0">
                <a:solidFill>
                  <a:srgbClr val="14201D"/>
                </a:solidFill>
                <a:latin typeface="IBM Plex Sans" pitchFamily="34" charset="0"/>
                <a:ea typeface="IBM Plex Sans" pitchFamily="34" charset="-122"/>
                <a:cs typeface="IBM Plex Sans" pitchFamily="34" charset="-120"/>
              </a:rPr>
              <a:t>Google:</a:t>
            </a:r>
            <a:r>
              <a:rPr lang="en-US" sz="1400" dirty="0">
                <a:solidFill>
                  <a:srgbClr val="14201D"/>
                </a:solidFill>
                <a:latin typeface="IBM Plex Sans" pitchFamily="34" charset="0"/>
                <a:ea typeface="IBM Plex Sans" pitchFamily="34" charset="-122"/>
                <a:cs typeface="IBM Plex Sans" pitchFamily="34" charset="-120"/>
              </a:rPr>
              <a:t> TPUs</a:t>
            </a:r>
            <a:endParaRPr lang="en-US" sz="1400" dirty="0"/>
          </a:p>
        </p:txBody>
      </p:sp>
      <p:sp>
        <p:nvSpPr>
          <p:cNvPr id="10" name="Shape 8"/>
          <p:cNvSpPr/>
          <p:nvPr/>
        </p:nvSpPr>
        <p:spPr>
          <a:xfrm>
            <a:off x="8327489" y="1913235"/>
            <a:ext cx="3048556" cy="2311380"/>
          </a:xfrm>
          <a:prstGeom prst="roundRect">
            <a:avLst>
              <a:gd name="adj" fmla="val 4258"/>
            </a:avLst>
          </a:prstGeom>
          <a:solidFill>
            <a:srgbClr val="FBFCFB"/>
          </a:solidFill>
          <a:ln w="6350">
            <a:solidFill>
              <a:srgbClr val="D2DBD8"/>
            </a:solidFill>
            <a:prstDash val="solid"/>
          </a:ln>
        </p:spPr>
        <p:txBody>
          <a:bodyPr/>
          <a:p/>
        </p:txBody>
      </p:sp>
      <p:sp>
        <p:nvSpPr>
          <p:cNvPr id="11" name="Text 9"/>
          <p:cNvSpPr/>
          <p:nvPr/>
        </p:nvSpPr>
        <p:spPr>
          <a:xfrm>
            <a:off x="8607505" y="2193255"/>
            <a:ext cx="2563181" cy="3606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E3A20"/>
                </a:solidFill>
                <a:latin typeface="Bricolage Grotesque" pitchFamily="34" charset="0"/>
                <a:ea typeface="Bricolage Grotesque" pitchFamily="34" charset="-122"/>
                <a:cs typeface="Bricolage Grotesque" pitchFamily="34" charset="-120"/>
              </a:rPr>
              <a:t>Cloud</a:t>
            </a:r>
            <a:endParaRPr lang="en-US" sz="2200" dirty="0"/>
          </a:p>
        </p:txBody>
      </p:sp>
      <p:sp>
        <p:nvSpPr>
          <p:cNvPr id="12" name="Text 10"/>
          <p:cNvSpPr/>
          <p:nvPr/>
        </p:nvSpPr>
        <p:spPr>
          <a:xfrm>
            <a:off x="8685737" y="2655453"/>
            <a:ext cx="2477329" cy="798890"/>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14201D"/>
                </a:solidFill>
                <a:latin typeface="IBM Plex Sans" pitchFamily="34" charset="0"/>
                <a:ea typeface="IBM Plex Sans" pitchFamily="34" charset="-122"/>
                <a:cs typeface="IBM Plex Sans" pitchFamily="34" charset="-120"/>
              </a:rPr>
              <a:t>Microsoft Azure</a:t>
            </a:r>
            <a:endParaRPr lang="en-US" sz="1400" dirty="0"/>
          </a:p>
          <a:p>
            <a:pPr algn="l" marL="175768" indent="-175768">
              <a:lnSpc>
                <a:spcPts val="2030"/>
              </a:lnSpc>
              <a:buSzPct val="100000"/>
              <a:buChar char="•"/>
            </a:pPr>
            <a:r>
              <a:rPr lang="en-US" sz="1400" dirty="0">
                <a:solidFill>
                  <a:srgbClr val="14201D"/>
                </a:solidFill>
                <a:latin typeface="IBM Plex Sans" pitchFamily="34" charset="0"/>
                <a:ea typeface="IBM Plex Sans" pitchFamily="34" charset="-122"/>
                <a:cs typeface="IBM Plex Sans" pitchFamily="34" charset="-120"/>
              </a:rPr>
              <a:t>Amazon Web Services</a:t>
            </a:r>
            <a:endParaRPr lang="en-US" sz="1400" dirty="0"/>
          </a:p>
          <a:p>
            <a:pPr algn="l" marL="175768" indent="-175768">
              <a:lnSpc>
                <a:spcPts val="2030"/>
              </a:lnSpc>
              <a:buSzPct val="100000"/>
              <a:buChar char="•"/>
            </a:pPr>
            <a:r>
              <a:rPr lang="en-US" sz="1400" dirty="0">
                <a:solidFill>
                  <a:srgbClr val="14201D"/>
                </a:solidFill>
                <a:latin typeface="IBM Plex Sans" pitchFamily="34" charset="0"/>
                <a:ea typeface="IBM Plex Sans" pitchFamily="34" charset="-122"/>
                <a:cs typeface="IBM Plex Sans" pitchFamily="34" charset="-120"/>
              </a:rPr>
              <a:t>Google Cloud</a:t>
            </a:r>
            <a:endParaRPr lang="en-US" sz="1400" dirty="0"/>
          </a:p>
        </p:txBody>
      </p:sp>
      <p:sp>
        <p:nvSpPr>
          <p:cNvPr id="13" name="Text 11"/>
          <p:cNvSpPr/>
          <p:nvPr/>
        </p:nvSpPr>
        <p:spPr>
          <a:xfrm>
            <a:off x="812780" y="5796322"/>
            <a:ext cx="10883434" cy="2743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5E5B"/>
                </a:solidFill>
                <a:latin typeface="IBM Plex Sans" pitchFamily="34" charset="0"/>
                <a:ea typeface="IBM Plex Sans" pitchFamily="34" charset="-122"/>
                <a:cs typeface="IBM Plex Sans" pitchFamily="34" charset="-120"/>
              </a:rPr>
              <a:t>Training compute for top models has doubled roughly every six months since 2010 (Our World in Data).</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01D"/>
        </a:solidFill>
      </p:bgPr>
    </p:bg>
    <p:spTree>
      <p:nvGrpSpPr>
        <p:cNvPr id="1" name=""/>
        <p:cNvGrpSpPr/>
        <p:nvPr/>
      </p:nvGrpSpPr>
      <p:grpSpPr>
        <a:xfrm>
          <a:off x="0" y="0"/>
          <a:ext cx="0" cy="0"/>
          <a:chOff x="0" y="0"/>
          <a:chExt cx="0" cy="0"/>
        </a:xfrm>
      </p:grpSpPr>
      <p:sp>
        <p:nvSpPr>
          <p:cNvPr id="2" name="Text 0"/>
          <p:cNvSpPr/>
          <p:nvPr>
            <p:ph type="title"/>
          </p:nvPr>
        </p:nvSpPr>
        <p:spPr>
          <a:xfrm>
            <a:off x="812780" y="812775"/>
            <a:ext cx="10883434"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5F4"/>
                </a:solidFill>
                <a:latin typeface="Bricolage Grotesque" pitchFamily="34" charset="0"/>
                <a:ea typeface="Bricolage Grotesque" pitchFamily="34" charset="-122"/>
                <a:cs typeface="Bricolage Grotesque" pitchFamily="34" charset="-120"/>
              </a:rPr>
              <a:t>Three lessons from 80 years</a:t>
            </a:r>
            <a:endParaRPr lang="en-US" sz="3600" dirty="0"/>
          </a:p>
        </p:txBody>
      </p:sp>
      <p:sp>
        <p:nvSpPr>
          <p:cNvPr id="3" name="Shape 1"/>
          <p:cNvSpPr/>
          <p:nvPr/>
        </p:nvSpPr>
        <p:spPr>
          <a:xfrm>
            <a:off x="812780" y="1690328"/>
            <a:ext cx="3386674" cy="0"/>
          </a:xfrm>
          <a:prstGeom prst="line">
            <a:avLst/>
          </a:prstGeom>
          <a:noFill/>
          <a:ln w="38100">
            <a:solidFill>
              <a:srgbClr val="7DB2DC"/>
            </a:solidFill>
            <a:prstDash val="solid"/>
          </a:ln>
        </p:spPr>
        <p:txBody>
          <a:bodyPr/>
          <a:p/>
        </p:txBody>
      </p:sp>
      <p:sp>
        <p:nvSpPr>
          <p:cNvPr id="4" name="Text 2"/>
          <p:cNvSpPr/>
          <p:nvPr/>
        </p:nvSpPr>
        <p:spPr>
          <a:xfrm>
            <a:off x="812780" y="1937978"/>
            <a:ext cx="3488274" cy="3606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DB2DC"/>
                </a:solidFill>
                <a:latin typeface="Bricolage Grotesque" pitchFamily="34" charset="0"/>
                <a:ea typeface="Bricolage Grotesque" pitchFamily="34" charset="-122"/>
                <a:cs typeface="Bricolage Grotesque" pitchFamily="34" charset="-120"/>
              </a:rPr>
              <a:t>Hype has a cost</a:t>
            </a:r>
            <a:endParaRPr lang="en-US" sz="2200" dirty="0"/>
          </a:p>
        </p:txBody>
      </p:sp>
      <p:sp>
        <p:nvSpPr>
          <p:cNvPr id="5" name="Text 3"/>
          <p:cNvSpPr/>
          <p:nvPr/>
        </p:nvSpPr>
        <p:spPr>
          <a:xfrm>
            <a:off x="812780" y="2400176"/>
            <a:ext cx="3488274" cy="87872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5E2"/>
                </a:solidFill>
                <a:latin typeface="IBM Plex Sans" pitchFamily="34" charset="0"/>
                <a:ea typeface="IBM Plex Sans" pitchFamily="34" charset="-122"/>
                <a:cs typeface="IBM Plex Sans" pitchFamily="34" charset="-120"/>
              </a:rPr>
              <a:t>Both winters followed promises AI couldn’t keep. Today’s boom should remember that.</a:t>
            </a:r>
            <a:endParaRPr lang="en-US" sz="1600" dirty="0"/>
          </a:p>
        </p:txBody>
      </p:sp>
      <p:sp>
        <p:nvSpPr>
          <p:cNvPr id="6" name="Shape 4"/>
          <p:cNvSpPr/>
          <p:nvPr/>
        </p:nvSpPr>
        <p:spPr>
          <a:xfrm>
            <a:off x="4402634" y="1690328"/>
            <a:ext cx="3386733" cy="0"/>
          </a:xfrm>
          <a:prstGeom prst="line">
            <a:avLst/>
          </a:prstGeom>
          <a:noFill/>
          <a:ln w="38100">
            <a:solidFill>
              <a:srgbClr val="F2795B"/>
            </a:solidFill>
            <a:prstDash val="solid"/>
          </a:ln>
        </p:spPr>
        <p:txBody>
          <a:bodyPr/>
          <a:p/>
        </p:txBody>
      </p:sp>
      <p:sp>
        <p:nvSpPr>
          <p:cNvPr id="7" name="Text 5"/>
          <p:cNvSpPr/>
          <p:nvPr/>
        </p:nvSpPr>
        <p:spPr>
          <a:xfrm>
            <a:off x="4402634" y="1937978"/>
            <a:ext cx="3488335" cy="3606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795B"/>
                </a:solidFill>
                <a:latin typeface="Bricolage Grotesque" pitchFamily="34" charset="0"/>
                <a:ea typeface="Bricolage Grotesque" pitchFamily="34" charset="-122"/>
                <a:cs typeface="Bricolage Grotesque" pitchFamily="34" charset="-120"/>
              </a:rPr>
              <a:t>Ideas wait for hardware</a:t>
            </a:r>
            <a:endParaRPr lang="en-US" sz="2200" dirty="0"/>
          </a:p>
        </p:txBody>
      </p:sp>
      <p:sp>
        <p:nvSpPr>
          <p:cNvPr id="8" name="Text 6"/>
          <p:cNvSpPr/>
          <p:nvPr/>
        </p:nvSpPr>
        <p:spPr>
          <a:xfrm>
            <a:off x="4402634" y="2400176"/>
            <a:ext cx="3488335" cy="116316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5E2"/>
                </a:solidFill>
                <a:latin typeface="IBM Plex Sans" pitchFamily="34" charset="0"/>
                <a:ea typeface="IBM Plex Sans" pitchFamily="34" charset="-122"/>
                <a:cs typeface="IBM Plex Sans" pitchFamily="34" charset="-120"/>
              </a:rPr>
              <a:t>Neural networks (1958) and backpropagation (1986) only won once GPUs, cloud and big data arrived.</a:t>
            </a:r>
            <a:endParaRPr lang="en-US" sz="1600" dirty="0"/>
          </a:p>
        </p:txBody>
      </p:sp>
      <p:sp>
        <p:nvSpPr>
          <p:cNvPr id="9" name="Shape 7"/>
          <p:cNvSpPr/>
          <p:nvPr/>
        </p:nvSpPr>
        <p:spPr>
          <a:xfrm>
            <a:off x="7992547" y="1690328"/>
            <a:ext cx="3386674" cy="0"/>
          </a:xfrm>
          <a:prstGeom prst="line">
            <a:avLst/>
          </a:prstGeom>
          <a:noFill/>
          <a:ln w="38100">
            <a:solidFill>
              <a:srgbClr val="E99B48"/>
            </a:solidFill>
            <a:prstDash val="solid"/>
          </a:ln>
        </p:spPr>
        <p:txBody>
          <a:bodyPr/>
          <a:p/>
        </p:txBody>
      </p:sp>
      <p:sp>
        <p:nvSpPr>
          <p:cNvPr id="10" name="Text 8"/>
          <p:cNvSpPr/>
          <p:nvPr/>
        </p:nvSpPr>
        <p:spPr>
          <a:xfrm>
            <a:off x="7992547" y="1937978"/>
            <a:ext cx="3488274" cy="3606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99B48"/>
                </a:solidFill>
                <a:latin typeface="Bricolage Grotesque" pitchFamily="34" charset="0"/>
                <a:ea typeface="Bricolage Grotesque" pitchFamily="34" charset="-122"/>
                <a:cs typeface="Bricolage Grotesque" pitchFamily="34" charset="-120"/>
              </a:rPr>
              <a:t>People drive progress</a:t>
            </a:r>
            <a:endParaRPr lang="en-US" sz="2200" dirty="0"/>
          </a:p>
        </p:txBody>
      </p:sp>
      <p:sp>
        <p:nvSpPr>
          <p:cNvPr id="11" name="Text 9"/>
          <p:cNvSpPr/>
          <p:nvPr/>
        </p:nvSpPr>
        <p:spPr>
          <a:xfrm>
            <a:off x="7992547" y="2400176"/>
            <a:ext cx="3488274" cy="87872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5E2"/>
                </a:solidFill>
                <a:latin typeface="IBM Plex Sans" pitchFamily="34" charset="0"/>
                <a:ea typeface="IBM Plex Sans" pitchFamily="34" charset="-122"/>
                <a:cs typeface="IBM Plex Sans" pitchFamily="34" charset="-120"/>
              </a:rPr>
              <a:t>From Turing to Hinton to Fei-Fei Li, persistent researchers carried the field through the winters.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5F4"/>
        </a:solidFill>
      </p:bgPr>
    </p:bg>
    <p:spTree>
      <p:nvGrpSpPr>
        <p:cNvPr id="1" name=""/>
        <p:cNvGrpSpPr/>
        <p:nvPr/>
      </p:nvGrpSpPr>
      <p:grpSpPr>
        <a:xfrm>
          <a:off x="0" y="0"/>
          <a:ext cx="0" cy="0"/>
          <a:chOff x="0" y="0"/>
          <a:chExt cx="0" cy="0"/>
        </a:xfrm>
      </p:grpSpPr>
      <p:sp>
        <p:nvSpPr>
          <p:cNvPr id="2" name="Text 0"/>
          <p:cNvSpPr/>
          <p:nvPr>
            <p:ph type="title"/>
          </p:nvPr>
        </p:nvSpPr>
        <p:spPr>
          <a:xfrm>
            <a:off x="812780" y="812775"/>
            <a:ext cx="10883434"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D"/>
                </a:solidFill>
                <a:latin typeface="Bricolage Grotesque" pitchFamily="34" charset="0"/>
                <a:ea typeface="Bricolage Grotesque" pitchFamily="34" charset="-122"/>
                <a:cs typeface="Bricolage Grotesque" pitchFamily="34" charset="-120"/>
              </a:rPr>
              <a:t>Sources</a:t>
            </a:r>
            <a:endParaRPr lang="en-US" sz="3600" dirty="0"/>
          </a:p>
        </p:txBody>
      </p:sp>
      <p:sp>
        <p:nvSpPr>
          <p:cNvPr id="3" name="Text 1"/>
          <p:cNvSpPr/>
          <p:nvPr/>
        </p:nvSpPr>
        <p:spPr>
          <a:xfrm>
            <a:off x="911586" y="1569659"/>
            <a:ext cx="10777008" cy="1168400"/>
          </a:xfrm>
          <a:prstGeom prst="rect">
            <a:avLst/>
          </a:prstGeom>
          <a:noFill/>
          <a:ln/>
        </p:spPr>
        <p:txBody>
          <a:bodyPr wrap="square" lIns="0" tIns="0" rIns="0" bIns="0" rtlCol="0" anchor="t">
            <a:normAutofit/>
          </a:bodyPr>
          <a:lstStyle/>
          <a:p>
            <a:pPr algn="l" marL="155194" indent="-155194">
              <a:lnSpc>
                <a:spcPts val="1800"/>
              </a:lnSpc>
              <a:buSzPct val="100000"/>
              <a:buChar char="•"/>
            </a:pPr>
            <a:r>
              <a:rPr lang="en-US" sz="1200" dirty="0">
                <a:solidFill>
                  <a:srgbClr val="2B3A37"/>
                </a:solidFill>
                <a:latin typeface="IBM Plex Sans" pitchFamily="34" charset="0"/>
                <a:ea typeface="IBM Plex Sans" pitchFamily="34" charset="-122"/>
                <a:cs typeface="IBM Plex Sans" pitchFamily="34" charset="-120"/>
              </a:rPr>
              <a:t>Putchuon. (2024, May 30). </a:t>
            </a:r>
            <a:r>
              <a:rPr lang="en-US" sz="1200" i="1" dirty="0">
                <a:solidFill>
                  <a:srgbClr val="2B3A37"/>
                </a:solidFill>
                <a:latin typeface="IBM Plex Sans" pitchFamily="34" charset="0"/>
                <a:ea typeface="IBM Plex Sans" pitchFamily="34" charset="-122"/>
                <a:cs typeface="IBM Plex Sans" pitchFamily="34" charset="-120"/>
              </a:rPr>
              <a:t>The entire history of artificial intelligence (Last 100 years)</a:t>
            </a:r>
            <a:r>
              <a:rPr lang="en-US" sz="1200" dirty="0">
                <a:solidFill>
                  <a:srgbClr val="2B3A37"/>
                </a:solidFill>
                <a:latin typeface="IBM Plex Sans" pitchFamily="34" charset="0"/>
                <a:ea typeface="IBM Plex Sans" pitchFamily="34" charset="-122"/>
                <a:cs typeface="IBM Plex Sans" pitchFamily="34" charset="-120"/>
              </a:rPr>
              <a:t> [Video]. YouTube.</a:t>
            </a:r>
            <a:endParaRPr lang="en-US" sz="1200" dirty="0"/>
          </a:p>
          <a:p>
            <a:pPr algn="l" marL="155194" indent="-155194">
              <a:lnSpc>
                <a:spcPts val="1800"/>
              </a:lnSpc>
              <a:buSzPct val="100000"/>
              <a:buChar char="•"/>
            </a:pPr>
            <a:r>
              <a:rPr lang="en-US" sz="1200" dirty="0">
                <a:solidFill>
                  <a:srgbClr val="2B3A37"/>
                </a:solidFill>
                <a:latin typeface="IBM Plex Sans" pitchFamily="34" charset="0"/>
                <a:ea typeface="IBM Plex Sans" pitchFamily="34" charset="-122"/>
                <a:cs typeface="IBM Plex Sans" pitchFamily="34" charset="-120"/>
              </a:rPr>
              <a:t>IEEE Computer Society. (n.d.). </a:t>
            </a:r>
            <a:r>
              <a:rPr lang="en-US" sz="1200" i="1" dirty="0">
                <a:solidFill>
                  <a:srgbClr val="2B3A37"/>
                </a:solidFill>
                <a:latin typeface="IBM Plex Sans" pitchFamily="34" charset="0"/>
                <a:ea typeface="IBM Plex Sans" pitchFamily="34" charset="-122"/>
                <a:cs typeface="IBM Plex Sans" pitchFamily="34" charset="-120"/>
              </a:rPr>
              <a:t>The evolution of AI: From foundations to future prospects.</a:t>
            </a:r>
            <a:r>
              <a:rPr lang="en-US" sz="1200" dirty="0">
                <a:solidFill>
                  <a:srgbClr val="2B3A37"/>
                </a:solidFill>
                <a:latin typeface="IBM Plex Sans" pitchFamily="34" charset="0"/>
                <a:ea typeface="IBM Plex Sans" pitchFamily="34" charset="-122"/>
                <a:cs typeface="IBM Plex Sans" pitchFamily="34" charset="-120"/>
              </a:rPr>
              <a:t> computer.org</a:t>
            </a:r>
            <a:endParaRPr lang="en-US" sz="1200" dirty="0"/>
          </a:p>
          <a:p>
            <a:pPr algn="l" marL="155194" indent="-155194">
              <a:lnSpc>
                <a:spcPts val="1800"/>
              </a:lnSpc>
              <a:buSzPct val="100000"/>
              <a:buChar char="•"/>
            </a:pPr>
            <a:r>
              <a:rPr lang="en-US" sz="1200" dirty="0">
                <a:solidFill>
                  <a:srgbClr val="2B3A37"/>
                </a:solidFill>
                <a:latin typeface="IBM Plex Sans" pitchFamily="34" charset="0"/>
                <a:ea typeface="IBM Plex Sans" pitchFamily="34" charset="-122"/>
                <a:cs typeface="IBM Plex Sans" pitchFamily="34" charset="-120"/>
              </a:rPr>
              <a:t>Our World in Data. (n.d.). </a:t>
            </a:r>
            <a:r>
              <a:rPr lang="en-US" sz="1200" i="1" dirty="0">
                <a:solidFill>
                  <a:srgbClr val="2B3A37"/>
                </a:solidFill>
                <a:latin typeface="IBM Plex Sans" pitchFamily="34" charset="0"/>
                <a:ea typeface="IBM Plex Sans" pitchFamily="34" charset="-122"/>
                <a:cs typeface="IBM Plex Sans" pitchFamily="34" charset="-120"/>
              </a:rPr>
              <a:t>A brief history of artificial intelligence.</a:t>
            </a:r>
            <a:r>
              <a:rPr lang="en-US" sz="1200" dirty="0">
                <a:solidFill>
                  <a:srgbClr val="2B3A37"/>
                </a:solidFill>
                <a:latin typeface="IBM Plex Sans" pitchFamily="34" charset="0"/>
                <a:ea typeface="IBM Plex Sans" pitchFamily="34" charset="-122"/>
                <a:cs typeface="IBM Plex Sans" pitchFamily="34" charset="-120"/>
              </a:rPr>
              <a:t> ourworldindata.org/brief-history-of-ai</a:t>
            </a:r>
            <a:endParaRPr lang="en-US" sz="1200" dirty="0"/>
          </a:p>
          <a:p>
            <a:pPr algn="l" marL="155194" indent="-155194">
              <a:lnSpc>
                <a:spcPts val="1800"/>
              </a:lnSpc>
              <a:buSzPct val="100000"/>
              <a:buChar char="•"/>
            </a:pPr>
            <a:r>
              <a:rPr lang="en-US" sz="1200" dirty="0">
                <a:solidFill>
                  <a:srgbClr val="2B3A37"/>
                </a:solidFill>
                <a:latin typeface="IBM Plex Sans" pitchFamily="34" charset="0"/>
                <a:ea typeface="IBM Plex Sans" pitchFamily="34" charset="-122"/>
                <a:cs typeface="IBM Plex Sans" pitchFamily="34" charset="-120"/>
              </a:rPr>
              <a:t>Vaswani, A., et al. (2017). </a:t>
            </a:r>
            <a:r>
              <a:rPr lang="en-US" sz="1200" i="1" dirty="0">
                <a:solidFill>
                  <a:srgbClr val="2B3A37"/>
                </a:solidFill>
                <a:latin typeface="IBM Plex Sans" pitchFamily="34" charset="0"/>
                <a:ea typeface="IBM Plex Sans" pitchFamily="34" charset="-122"/>
                <a:cs typeface="IBM Plex Sans" pitchFamily="34" charset="-120"/>
              </a:rPr>
              <a:t>Attention is all you need.</a:t>
            </a:r>
            <a:r>
              <a:rPr lang="en-US" sz="1200" dirty="0">
                <a:solidFill>
                  <a:srgbClr val="2B3A37"/>
                </a:solidFill>
                <a:latin typeface="IBM Plex Sans" pitchFamily="34" charset="0"/>
                <a:ea typeface="IBM Plex Sans" pitchFamily="34" charset="-122"/>
                <a:cs typeface="IBM Plex Sans" pitchFamily="34" charset="-120"/>
              </a:rPr>
              <a:t> arxiv.org/abs/1706.03762</a:t>
            </a:r>
            <a:endParaRPr lang="en-US" sz="1200" dirty="0"/>
          </a:p>
          <a:p>
            <a:pPr algn="l" marL="155194" indent="-155194">
              <a:lnSpc>
                <a:spcPts val="1800"/>
              </a:lnSpc>
              <a:buSzPct val="100000"/>
              <a:buChar char="•"/>
            </a:pPr>
            <a:r>
              <a:rPr lang="en-US" sz="1200" dirty="0">
                <a:solidFill>
                  <a:srgbClr val="2B3A37"/>
                </a:solidFill>
                <a:latin typeface="IBM Plex Sans" pitchFamily="34" charset="0"/>
                <a:ea typeface="IBM Plex Sans" pitchFamily="34" charset="-122"/>
                <a:cs typeface="IBM Plex Sans" pitchFamily="34" charset="-120"/>
              </a:rPr>
              <a:t>The Nobel Prize. (2024). </a:t>
            </a:r>
            <a:r>
              <a:rPr lang="en-US" sz="1200" i="1" dirty="0">
                <a:solidFill>
                  <a:srgbClr val="2B3A37"/>
                </a:solidFill>
                <a:latin typeface="IBM Plex Sans" pitchFamily="34" charset="0"/>
                <a:ea typeface="IBM Plex Sans" pitchFamily="34" charset="-122"/>
                <a:cs typeface="IBM Plex Sans" pitchFamily="34" charset="-120"/>
              </a:rPr>
              <a:t>The Nobel Prize in Physics 2024.</a:t>
            </a:r>
            <a:r>
              <a:rPr lang="en-US" sz="1200" dirty="0">
                <a:solidFill>
                  <a:srgbClr val="2B3A37"/>
                </a:solidFill>
                <a:latin typeface="IBM Plex Sans" pitchFamily="34" charset="0"/>
                <a:ea typeface="IBM Plex Sans" pitchFamily="34" charset="-122"/>
                <a:cs typeface="IBM Plex Sans" pitchFamily="34" charset="-120"/>
              </a:rPr>
              <a:t> nobelprize.org</a:t>
            </a:r>
            <a:endParaRPr lang="en-US" sz="1200" dirty="0"/>
          </a:p>
        </p:txBody>
      </p:sp>
      <p:sp>
        <p:nvSpPr>
          <p:cNvPr id="4" name="Text 2"/>
          <p:cNvSpPr/>
          <p:nvPr/>
        </p:nvSpPr>
        <p:spPr>
          <a:xfrm>
            <a:off x="812780" y="5461099"/>
            <a:ext cx="10566440" cy="584121"/>
          </a:xfrm>
          <a:prstGeom prst="roundRect">
            <a:avLst>
              <a:gd name="adj" fmla="val 17394"/>
            </a:avLst>
          </a:prstGeom>
          <a:solidFill>
            <a:srgbClr val="E9EEEC"/>
          </a:solidFill>
          <a:ln/>
        </p:spPr>
        <p:txBody>
          <a:bodyPr wrap="square" lIns="198842" tIns="148042" rIns="0" bIns="122642" rtlCol="0" anchor="t">
            <a:normAutofit/>
          </a:bodyPr>
          <a:lstStyle/>
          <a:p>
            <a:pPr algn="l" indent="0" marL="0">
              <a:lnSpc>
                <a:spcPts val="1800"/>
              </a:lnSpc>
              <a:buNone/>
            </a:pPr>
            <a:r>
              <a:rPr lang="en-US" sz="1200" b="1" dirty="0">
                <a:solidFill>
                  <a:srgbClr val="14201D"/>
                </a:solidFill>
                <a:latin typeface="IBM Plex Sans" pitchFamily="34" charset="0"/>
                <a:ea typeface="IBM Plex Sans" pitchFamily="34" charset="-122"/>
                <a:cs typeface="IBM Plex Sans" pitchFamily="34" charset="-120"/>
              </a:rPr>
              <a:t>AI use disclosure:</a:t>
            </a:r>
            <a:r>
              <a:rPr lang="en-US" sz="1200" dirty="0">
                <a:solidFill>
                  <a:srgbClr val="14201D"/>
                </a:solidFill>
                <a:latin typeface="IBM Plex Sans" pitchFamily="34" charset="0"/>
                <a:ea typeface="IBM Plex Sans" pitchFamily="34" charset="-122"/>
                <a:cs typeface="IBM Plex Sans" pitchFamily="34" charset="-120"/>
              </a:rPr>
              <a:t> I used Claude (Anthropic) to help research milestones and design these slides. I checked the events against the sources above.</a:t>
            </a:r>
            <a:endParaRPr lang="en-US" sz="1200" dirty="0"/>
          </a:p>
        </p:txBody>
      </p:sp>
    </p:spTree>
  </p:cSld>
  <p:clrMapOvr>
    <a:masterClrMapping/>
  </p:clrMapOvr>
</p:sld>
</file>

<file path=ppt/theme/theme1.xml><?xml version="1.0" encoding="utf-8"?>
<a:theme xmlns:a="http://schemas.openxmlformats.org/drawingml/2006/main" name="Seasons of AI">
  <a:themeElements>
    <a:clrScheme name="Seasons of AI">
      <a:dk1>
        <a:srgbClr val="14201D"/>
      </a:dk1>
      <a:lt1>
        <a:srgbClr val="F2F5F4"/>
      </a:lt1>
      <a:dk2>
        <a:srgbClr val="4C5553"/>
      </a:dk2>
      <a:lt2>
        <a:srgbClr val="DCE0DF"/>
      </a:lt2>
      <a:accent1>
        <a:srgbClr val="BE3A20"/>
      </a:accent1>
      <a:accent2>
        <a:srgbClr val="9A520A"/>
      </a:accent2>
      <a:accent3>
        <a:srgbClr val="2F6E9F"/>
      </a:accent3>
      <a:accent4>
        <a:srgbClr val="7DB2DC"/>
      </a:accent4>
      <a:accent5>
        <a:srgbClr val="B8640F"/>
      </a:accent5>
      <a:accent6>
        <a:srgbClr val="E99B48"/>
      </a:accent6>
      <a:hlink>
        <a:srgbClr val="0563C1"/>
      </a:hlink>
      <a:folHlink>
        <a:srgbClr val="954F72"/>
      </a:folHlink>
    </a:clrScheme>
    <a:fontScheme name="Seasons of AI">
      <a:majorFont>
        <a:latin typeface="Bricolage Grotesq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Seasons of AI</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Bricolage Grotesque
Copyright 2022 The Bricolage Grotesque Project Authors (https://github.com/ateliertriay/bricolage)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2026-10-21T03:56:43Z</dcterms:created>
  <dcterms:modified xsi:type="dcterms:W3CDTF">2026-10-21T03:56:43Z</dcterms:modified>
</cp:coreProperties>
</file>